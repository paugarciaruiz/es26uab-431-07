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A5_A467E2CB.xml" ContentType="application/vnd.ms-powerpoint.comments+xml"/>
  <Override PartName="/ppt/comments/modernComment_1A3_EF5D6735.xml" ContentType="application/vnd.ms-powerpoint.comments+xml"/>
  <Override PartName="/ppt/comments/modernComment_1C5_84DEFC56.xml" ContentType="application/vnd.ms-powerpoint.comments+xml"/>
  <Override PartName="/ppt/comments/modernComment_1EF_7A696ECE.xml" ContentType="application/vnd.ms-powerpoint.comments+xml"/>
  <Override PartName="/ppt/comments/modernComment_1CB_12D76A23.xml" ContentType="application/vnd.ms-powerpoint.comments+xml"/>
  <Override PartName="/ppt/comments/modernComment_1F3_B95C4F60.xml" ContentType="application/vnd.ms-powerpoint.comments+xml"/>
  <Override PartName="/ppt/comments/modernComment_1A7_D94D4391.xml" ContentType="application/vnd.ms-powerpoint.comments+xml"/>
  <Override PartName="/ppt/comments/modernComment_1A9_5C899E17.xml" ContentType="application/vnd.ms-powerpoint.comments+xml"/>
  <Override PartName="/ppt/comments/modernComment_1B7_6662CD95.xml" ContentType="application/vnd.ms-powerpoint.comments+xml"/>
  <Override PartName="/ppt/comments/modernComment_1BC_4C47C2E4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69"/>
  </p:notesMasterIdLst>
  <p:sldIdLst>
    <p:sldId id="412" r:id="rId5"/>
    <p:sldId id="415" r:id="rId6"/>
    <p:sldId id="418" r:id="rId7"/>
    <p:sldId id="457" r:id="rId8"/>
    <p:sldId id="420" r:id="rId9"/>
    <p:sldId id="409" r:id="rId10"/>
    <p:sldId id="416" r:id="rId11"/>
    <p:sldId id="458" r:id="rId12"/>
    <p:sldId id="421" r:id="rId13"/>
    <p:sldId id="422" r:id="rId14"/>
    <p:sldId id="419" r:id="rId15"/>
    <p:sldId id="414" r:id="rId16"/>
    <p:sldId id="453" r:id="rId17"/>
    <p:sldId id="454" r:id="rId18"/>
    <p:sldId id="455" r:id="rId19"/>
    <p:sldId id="456" r:id="rId20"/>
    <p:sldId id="411" r:id="rId21"/>
    <p:sldId id="399" r:id="rId22"/>
    <p:sldId id="495" r:id="rId23"/>
    <p:sldId id="497" r:id="rId24"/>
    <p:sldId id="479" r:id="rId25"/>
    <p:sldId id="487" r:id="rId26"/>
    <p:sldId id="480" r:id="rId27"/>
    <p:sldId id="490" r:id="rId28"/>
    <p:sldId id="482" r:id="rId29"/>
    <p:sldId id="488" r:id="rId30"/>
    <p:sldId id="493" r:id="rId31"/>
    <p:sldId id="485" r:id="rId32"/>
    <p:sldId id="484" r:id="rId33"/>
    <p:sldId id="486" r:id="rId34"/>
    <p:sldId id="459" r:id="rId35"/>
    <p:sldId id="460" r:id="rId36"/>
    <p:sldId id="468" r:id="rId37"/>
    <p:sldId id="469" r:id="rId38"/>
    <p:sldId id="470" r:id="rId39"/>
    <p:sldId id="471" r:id="rId40"/>
    <p:sldId id="499" r:id="rId41"/>
    <p:sldId id="500" r:id="rId42"/>
    <p:sldId id="501" r:id="rId43"/>
    <p:sldId id="502" r:id="rId44"/>
    <p:sldId id="423" r:id="rId45"/>
    <p:sldId id="503" r:id="rId46"/>
    <p:sldId id="504" r:id="rId47"/>
    <p:sldId id="505" r:id="rId48"/>
    <p:sldId id="424" r:id="rId49"/>
    <p:sldId id="461" r:id="rId50"/>
    <p:sldId id="425" r:id="rId51"/>
    <p:sldId id="462" r:id="rId52"/>
    <p:sldId id="439" r:id="rId53"/>
    <p:sldId id="463" r:id="rId54"/>
    <p:sldId id="464" r:id="rId55"/>
    <p:sldId id="466" r:id="rId56"/>
    <p:sldId id="465" r:id="rId57"/>
    <p:sldId id="467" r:id="rId58"/>
    <p:sldId id="444" r:id="rId59"/>
    <p:sldId id="472" r:id="rId60"/>
    <p:sldId id="475" r:id="rId61"/>
    <p:sldId id="474" r:id="rId62"/>
    <p:sldId id="477" r:id="rId63"/>
    <p:sldId id="478" r:id="rId64"/>
    <p:sldId id="492" r:id="rId65"/>
    <p:sldId id="494" r:id="rId66"/>
    <p:sldId id="496" r:id="rId67"/>
    <p:sldId id="498" r:id="rId6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C510C0-5381-4183-138A-5B1F0ABBADA4}" name="Jorge Bernal Del Nozal" initials="JB" userId="S::1215500@uab.cat::77172175-5e67-4179-97b5-d303e281400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2254B-5729-577D-9E41-EF09D66E6816}" v="6" dt="2026-06-07T16:24:12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75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comments/modernComment_1A3_EF5D67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E2C556-D933-442A-86D5-5F9B4A6048EE}" authorId="{11C510C0-5381-4183-138A-5B1F0ABBADA4}" status="resolved" created="2026-05-27T06:06:24.03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15875893" sldId="419"/>
      <ac:graphicFrameMk id="8" creationId="{951B3FE2-1A0C-344E-0DB4-DA8A966A68B3}"/>
      <ac:tblMk/>
      <ac:tcMk rowId="1140087435" colId="842417822"/>
      <ac:txMk cp="0">
        <ac:context len="1" hash="13"/>
      </ac:txMk>
    </ac:txMkLst>
    <p188:pos x="8490341" y="5524482"/>
    <p188:txBody>
      <a:bodyPr/>
      <a:lstStyle/>
      <a:p>
        <a:r>
          <a:rPr lang="en-GB"/>
          <a:t>No es postcondicion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30T10:53:38.149" authorId="{7C050897-1EE6-CB19-8470-7B2D3DB3A0E1}"/>
          </p223:rxn>
        </p223:reactions>
      </p:ext>
    </p188:extLst>
  </p188:cm>
</p188:cmLst>
</file>

<file path=ppt/comments/modernComment_1A5_A467E2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84427D-1306-4CAB-9BA5-170BB296A396}" authorId="{11C510C0-5381-4183-138A-5B1F0ABBADA4}" status="resolved" created="2026-05-27T06:05:47.78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58271691" sldId="421"/>
      <ac:graphicFrameMk id="3" creationId="{D221197F-1E85-7908-451A-1A59673D6F8F}"/>
      <ac:tblMk/>
      <ac:tcMk rowId="3348944531" colId="842417822"/>
      <ac:txMk cp="474" len="124">
        <ac:context len="599" hash="3917862987"/>
      </ac:txMk>
    </ac:txMkLst>
    <p188:pos x="8249915" y="2816525"/>
    <p188:txBody>
      <a:bodyPr/>
      <a:lstStyle/>
      <a:p>
        <a:r>
          <a:rPr lang="en-GB"/>
          <a:t>Aquí aceptaría o no? Si es una posibilidad, podría ser un subflujo. Si es un extend, ponedlo explícito</a:t>
        </a:r>
      </a:p>
    </p188:txBody>
  </p188:cm>
  <p188:cm id="{D72A037F-6613-4A14-B20E-A7BFC2882712}" authorId="{11C510C0-5381-4183-138A-5B1F0ABBADA4}" status="resolved" created="2026-05-27T06:06:00.32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58271691" sldId="421"/>
      <ac:graphicFrameMk id="3" creationId="{D221197F-1E85-7908-451A-1A59673D6F8F}"/>
      <ac:tblMk/>
      <ac:tcMk rowId="1140087435" colId="842417822"/>
      <ac:txMk cp="0">
        <ac:context len="1" hash="13"/>
      </ac:txMk>
    </ac:txMkLst>
    <p188:pos x="8383404" y="4832210"/>
    <p188:txBody>
      <a:bodyPr/>
      <a:lstStyle/>
      <a:p>
        <a:r>
          <a:rPr lang="en-GB"/>
          <a:t>No es postcondición</a:t>
        </a:r>
      </a:p>
    </p188:txBody>
  </p188:cm>
</p188:cmLst>
</file>

<file path=ppt/comments/modernComment_1A7_D94D43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0828A8-FF4D-4047-8436-4B0512A1957B}" authorId="{11C510C0-5381-4183-138A-5B1F0ABBADA4}" status="resolved" created="2026-05-27T06:10:35.21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45719441" sldId="423"/>
      <ac:graphicFrameMk id="6" creationId="{BBDCF79F-9385-E06C-5A6B-193ACEFE40BC}"/>
      <ac:tblMk/>
      <ac:tcMk rowId="3348944531" colId="842417822"/>
      <ac:txMk cp="14" len="91">
        <ac:context len="660" hash="2476408534"/>
      </ac:txMk>
    </ac:txMkLst>
    <p188:pos x="7495848" y="1499620"/>
    <p188:txBody>
      <a:bodyPr/>
      <a:lstStyle/>
      <a:p>
        <a:r>
          <a:rPr lang="en-GB"/>
          <a:t>Si es un include has de indicarlo</a:t>
        </a:r>
      </a:p>
    </p188:txBody>
  </p188:cm>
</p188:cmLst>
</file>

<file path=ppt/comments/modernComment_1A9_5C899E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41FDEB-9507-4F24-B7DE-E79885AEC4CA}" authorId="{11C510C0-5381-4183-138A-5B1F0ABBADA4}" status="resolved" created="2026-05-27T06:11:32.62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52522775" sldId="425"/>
      <ac:graphicFrameMk id="6" creationId="{7F2D0F6B-97F4-51B2-2190-31A09F9AEA7A}"/>
      <ac:tblMk/>
      <ac:tcMk rowId="526722916" colId="842417822"/>
      <ac:txMk cp="0" len="32">
        <ac:context len="550" hash="1361005489"/>
      </ac:txMk>
    </ac:txMkLst>
    <p188:pos x="5177890" y="2987101"/>
    <p188:txBody>
      <a:bodyPr/>
      <a:lstStyle/>
      <a:p>
        <a:r>
          <a:rPr lang="en-GB"/>
          <a:t>Hay que poner cómo se llega a este subflujo</a:t>
        </a:r>
      </a:p>
    </p188:txBody>
  </p188:cm>
  <p188:cm id="{F4E0761C-2A40-4436-9B39-4AE64C2CE366}" authorId="{11C510C0-5381-4183-138A-5B1F0ABBADA4}" status="resolved" created="2026-05-27T06:11:47.52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52522775" sldId="425"/>
      <ac:graphicFrameMk id="6" creationId="{7F2D0F6B-97F4-51B2-2190-31A09F9AEA7A}"/>
    </ac:deMkLst>
    <p188:txBody>
      <a:bodyPr/>
      <a:lstStyle/>
      <a:p>
        <a:r>
          <a:rPr lang="en-GB"/>
          <a:t>No es postcondicion</a:t>
        </a:r>
      </a:p>
    </p188:txBody>
  </p188:cm>
</p188:cmLst>
</file>

<file path=ppt/comments/modernComment_1B7_6662C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523843-DDD3-4FD4-904E-854885A376C3}" authorId="{11C510C0-5381-4183-138A-5B1F0ABBADA4}" status="resolved" created="2026-05-27T06:12:10.82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17751189" sldId="439"/>
      <ac:graphicFrameMk id="6" creationId="{629C7B1B-3553-250A-214D-C306FCDB5841}"/>
      <ac:tblMk/>
      <ac:tcMk rowId="3348944531" colId="842417822"/>
      <ac:txMk cp="0">
        <ac:context len="497" hash="3110928379"/>
      </ac:txMk>
    </ac:txMkLst>
    <p188:pos x="6332570" y="1645536"/>
    <p188:txBody>
      <a:bodyPr/>
      <a:lstStyle/>
      <a:p>
        <a:r>
          <a:rPr lang="en-GB"/>
          <a:t>Esto no es del caso de uso</a:t>
        </a:r>
      </a:p>
    </p188:txBody>
  </p188:cm>
</p188:cmLst>
</file>

<file path=ppt/comments/modernComment_1BC_4C47C2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C8AE640-5E94-4A46-9FD6-09C8BFBE39EE}" authorId="{11C510C0-5381-4183-138A-5B1F0ABBADA4}" created="2026-05-27T06:13:04.04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9771364" sldId="444"/>
      <ac:graphicFrameMk id="6" creationId="{FD414DE4-76E5-EE48-2F16-E4B7E4D41D0F}"/>
      <ac:tblMk/>
      <ac:tcMk rowId="1140087435" colId="842417822"/>
      <ac:txMk cp="145">
        <ac:context len="146" hash="2586984856"/>
      </ac:txMk>
    </ac:txMkLst>
    <p188:pos x="9896728" y="3814733"/>
    <p188:txBody>
      <a:bodyPr/>
      <a:lstStyle/>
      <a:p>
        <a:r>
          <a:rPr lang="en-GB"/>
          <a:t>No es postcondicion</a:t>
        </a:r>
      </a:p>
    </p188:txBody>
  </p188:cm>
</p188:cmLst>
</file>

<file path=ppt/comments/modernComment_1C5_84DEFC5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6707AC7-B3C9-4314-A6DE-879F5BBC126C}" authorId="{11C510C0-5381-4183-138A-5B1F0ABBADA4}" status="resolved" created="2026-05-27T06:06:46.71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29206102" sldId="453"/>
      <ac:graphicFrameMk id="3" creationId="{F2FE5919-22C1-45DD-2990-196DD9E59C06}"/>
      <ac:tblMk/>
      <ac:tcMk rowId="3348944531" colId="842417822"/>
      <ac:txMk cp="51" len="105">
        <ac:context len="445" hash="3210474839"/>
      </ac:txMk>
    </ac:txMkLst>
    <p188:pos x="9740392" y="1614845"/>
    <p188:txBody>
      <a:bodyPr/>
      <a:lstStyle/>
      <a:p>
        <a:r>
          <a:rPr lang="en-GB"/>
          <a:t>El cliente ha de iniciar el caso de uso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30T14:42:58.865" authorId="{01564411-CB30-0B73-43DC-69ECE9A96CAF}"/>
          </p223:rxn>
        </p223:reactions>
      </p:ext>
    </p188:extLst>
  </p188:cm>
</p188:cmLst>
</file>

<file path=ppt/comments/modernComment_1CB_12D76A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EF8EDD-97A3-43EB-A4A2-489F5E91EB63}" authorId="{11C510C0-5381-4183-138A-5B1F0ABBADA4}" status="resolved" created="2026-05-27T06:09:23.826" complete="100000">
    <pc:sldMkLst xmlns:pc="http://schemas.microsoft.com/office/powerpoint/2013/main/command">
      <pc:docMk/>
      <pc:sldMk cId="316107299" sldId="418"/>
    </pc:sldMkLst>
    <p188:txBody>
      <a:bodyPr/>
      <a:lstStyle/>
      <a:p>
        <a:r>
          <a:rPr lang="en-GB"/>
          <a:t>Has de poner cómo o de dónde se llegan a estos subflujos</a:t>
        </a:r>
      </a:p>
    </p188:txBody>
  </p188:cm>
</p188:cmLst>
</file>

<file path=ppt/comments/modernComment_1EF_7A696E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CBEA13-EC5C-4E83-B313-221D7E1C8CD9}" authorId="{11C510C0-5381-4183-138A-5B1F0ABBADA4}" created="2026-05-27T06:15:28.3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53729998" sldId="495"/>
      <ac:graphicFrameMk id="3" creationId="{90FF6648-E0A1-770F-4AF1-2014B079C1DB}"/>
      <ac:tblMk/>
      <ac:tcMk rowId="3348944531" colId="842417822"/>
      <ac:txMk cp="0" len="367">
        <ac:context len="418" hash="2102103624"/>
      </ac:txMk>
    </ac:txMkLst>
    <p188:pos x="8979504" y="1432601"/>
    <p188:txBody>
      <a:bodyPr/>
      <a:lstStyle/>
      <a:p>
        <a:r>
          <a:rPr lang="en-GB"/>
          <a:t>Este es el CU principal, tendría que tener ma´s cosas. También tendría que tener cómo se llega a los subflujos</a:t>
        </a:r>
      </a:p>
    </p188:txBody>
  </p188:cm>
  <p188:cm id="{292AC5EC-0DEF-4087-8E1D-2F42CF57A5BC}" authorId="{11C510C0-5381-4183-138A-5B1F0ABBADA4}" created="2026-05-27T06:15:41.9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53729998" sldId="495"/>
      <ac:graphicFrameMk id="3" creationId="{90FF6648-E0A1-770F-4AF1-2014B079C1DB}"/>
      <ac:tblMk/>
      <ac:tcMk rowId="1140087435" colId="842417822"/>
      <ac:txMk cp="0" len="1">
        <ac:context len="66" hash="4249974597"/>
      </ac:txMk>
    </ac:txMkLst>
    <p188:pos x="7224123" y="4115731"/>
    <p188:txBody>
      <a:bodyPr/>
      <a:lstStyle/>
      <a:p>
        <a:r>
          <a:rPr lang="en-GB"/>
          <a:t>La comanda está creada en el sistema</a:t>
        </a:r>
      </a:p>
    </p188:txBody>
  </p188:cm>
</p188:cmLst>
</file>

<file path=ppt/comments/modernComment_1F3_B95C4F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C8ADE9-19B4-4495-8905-680C35899B50}" authorId="{11C510C0-5381-4183-138A-5B1F0ABBADA4}" status="resolved" created="2026-05-27T06:09:59.93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09834592" sldId="499"/>
      <ac:graphicFrameMk id="6" creationId="{75725D21-F726-919F-D2F6-94681CB8096E}"/>
      <ac:tblMk/>
      <ac:tcMk rowId="526722916" colId="842417822"/>
      <ac:txMk cp="0" len="39">
        <ac:context len="245" hash="2082376421"/>
      </ac:txMk>
    </ac:txMkLst>
    <p188:pos x="3854004" y="3008504"/>
    <p188:txBody>
      <a:bodyPr/>
      <a:lstStyle/>
      <a:p>
        <a:r>
          <a:rPr lang="en-GB"/>
          <a:t>Hay que poner como se llega a este subflujo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5_A467E2CB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3_EF5D673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C5_84DEFC5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EF_7A696ECE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CB_12D76A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F3_B95C4F6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7_D94D439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9_5C899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B7_6662CD9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BC_4C47C2E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431-07</a:t>
            </a:r>
          </a:p>
          <a:p>
            <a:pPr>
              <a:lnSpc>
                <a:spcPct val="100000"/>
              </a:lnSpc>
            </a:pPr>
            <a:endParaRPr lang="ca-ES" sz="1400"/>
          </a:p>
          <a:p>
            <a:pPr>
              <a:lnSpc>
                <a:spcPct val="100000"/>
              </a:lnSpc>
            </a:pPr>
            <a:r>
              <a:rPr lang="ca-ES" sz="1400" err="1"/>
              <a:t>Sprint</a:t>
            </a:r>
            <a:r>
              <a:rPr lang="ca-ES" sz="140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Composició de l’equip</a:t>
            </a:r>
            <a:r>
              <a:rPr lang="en-GB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928189" y="3631629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>
                <a:ea typeface="+mn-lt"/>
                <a:cs typeface="+mn-lt"/>
              </a:rPr>
              <a:t>David Caballero </a:t>
            </a:r>
            <a:endParaRPr lang="ca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3359235" y="3631629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>
                <a:ea typeface="+mn-lt"/>
                <a:cs typeface="+mn-lt"/>
              </a:rPr>
              <a:t>Pau García </a:t>
            </a:r>
            <a:endParaRPr lang="ca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920862" y="5799061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>
                <a:ea typeface="+mn-lt"/>
                <a:cs typeface="+mn-lt"/>
              </a:rPr>
              <a:t>Oscar Marcos </a:t>
            </a:r>
            <a:endParaRPr lang="ca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3469139" y="5799061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>
                <a:ea typeface="+mn-lt"/>
                <a:cs typeface="+mn-lt"/>
              </a:rPr>
              <a:t>Guillem Capel Solé </a:t>
            </a:r>
            <a:endParaRPr lang="ca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D8E7C1-F3A1-9FFE-E007-5F434203772E}"/>
              </a:ext>
            </a:extLst>
          </p:cNvPr>
          <p:cNvSpPr txBox="1"/>
          <p:nvPr/>
        </p:nvSpPr>
        <p:spPr>
          <a:xfrm>
            <a:off x="6612835" y="3167270"/>
            <a:ext cx="43003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>
                <a:ea typeface="+mn-lt"/>
                <a:cs typeface="+mn-lt"/>
              </a:rPr>
              <a:t>En el quart sprint l’SCRUM Master ha sigut l’Oscar Marcos Ruiz.</a:t>
            </a:r>
            <a:endParaRPr lang="ca-ES"/>
          </a:p>
        </p:txBody>
      </p:sp>
      <p:pic>
        <p:nvPicPr>
          <p:cNvPr id="6" name="Imatge 5" descr="Imatge que conté Cara humana, persona, Front, Mentó&#10;&#10;Pot ser que el contingut generat per IA no sigui correcte.">
            <a:extLst>
              <a:ext uri="{FF2B5EF4-FFF2-40B4-BE49-F238E27FC236}">
                <a16:creationId xmlns:a16="http://schemas.microsoft.com/office/drawing/2014/main" id="{AFD17E42-8E97-832F-EB9F-95F6EBCE4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31" y="2288183"/>
            <a:ext cx="1381858" cy="1335347"/>
          </a:xfrm>
          <a:prstGeom prst="rect">
            <a:avLst/>
          </a:prstGeom>
        </p:spPr>
      </p:pic>
      <p:pic>
        <p:nvPicPr>
          <p:cNvPr id="7" name="Imatge 6" descr="Imatge que conté Cara humana, persona, roba, home&#10;&#10;Pot ser que el contingut generat per IA no sigui correcte.">
            <a:extLst>
              <a:ext uri="{FF2B5EF4-FFF2-40B4-BE49-F238E27FC236}">
                <a16:creationId xmlns:a16="http://schemas.microsoft.com/office/drawing/2014/main" id="{2C1AC285-51D7-5590-E376-65C518802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924" y="4203822"/>
            <a:ext cx="1260231" cy="1483702"/>
          </a:xfrm>
          <a:prstGeom prst="rect">
            <a:avLst/>
          </a:prstGeom>
        </p:spPr>
      </p:pic>
      <p:pic>
        <p:nvPicPr>
          <p:cNvPr id="15" name="Imatge 14" descr="Imatge que conté Cara humana, persona, somriure, text&#10;&#10;Pot ser que el contingut generat per IA no sigui correcte.">
            <a:extLst>
              <a:ext uri="{FF2B5EF4-FFF2-40B4-BE49-F238E27FC236}">
                <a16:creationId xmlns:a16="http://schemas.microsoft.com/office/drawing/2014/main" id="{AA763B7F-7A1B-9E75-BF83-4430F8AE3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778" y="2198075"/>
            <a:ext cx="1370137" cy="1421426"/>
          </a:xfrm>
          <a:prstGeom prst="rect">
            <a:avLst/>
          </a:prstGeom>
        </p:spPr>
      </p:pic>
      <p:pic>
        <p:nvPicPr>
          <p:cNvPr id="16" name="Imatge 15" descr="Imatge que conté Cara humana, persona, Front, Mentó&#10;&#10;Pot ser que el contingut generat per IA no sigui correcte.">
            <a:extLst>
              <a:ext uri="{FF2B5EF4-FFF2-40B4-BE49-F238E27FC236}">
                <a16:creationId xmlns:a16="http://schemas.microsoft.com/office/drawing/2014/main" id="{31E3F7F1-39E9-D214-01B2-852F9DF75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529" y="4222140"/>
            <a:ext cx="1509349" cy="146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2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Tasques fetes al sprint (Sprint 4)</a:t>
            </a:r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428603" y="2198728"/>
            <a:ext cx="10020823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ca-ES" b="1">
                <a:ea typeface="+mn-lt"/>
                <a:cs typeface="+mn-lt"/>
              </a:rPr>
              <a:t>Diagrames de Seqüència de les especificacions </a:t>
            </a:r>
            <a:r>
              <a:rPr lang="ca-ES" i="1">
                <a:ea typeface="+mn-lt"/>
                <a:cs typeface="+mn-lt"/>
              </a:rPr>
              <a:t>Registre, Login, Edició de Perfil, Idioma i Consulta Pública de Plats. </a:t>
            </a:r>
            <a:r>
              <a:rPr lang="ca-ES">
                <a:ea typeface="+mn-lt"/>
                <a:cs typeface="+mn-lt"/>
              </a:rPr>
              <a:t>(</a:t>
            </a:r>
            <a:r>
              <a:rPr lang="ca-ES" b="1">
                <a:ea typeface="+mn-lt"/>
                <a:cs typeface="+mn-lt"/>
              </a:rPr>
              <a:t>Pau</a:t>
            </a:r>
            <a:r>
              <a:rPr lang="ca-ES">
                <a:ea typeface="+mn-lt"/>
                <a:cs typeface="+mn-lt"/>
              </a:rPr>
              <a:t>)</a:t>
            </a:r>
            <a:endParaRPr lang="ca-ES"/>
          </a:p>
          <a:p>
            <a:pPr marL="285750" indent="-285750" algn="just">
              <a:buFont typeface="Arial"/>
              <a:buChar char="•"/>
            </a:pPr>
            <a:r>
              <a:rPr lang="ca-ES" b="1">
                <a:ea typeface="+mn-lt"/>
                <a:cs typeface="+mn-lt"/>
              </a:rPr>
              <a:t>Diagrames de Seqüència de les especificacions </a:t>
            </a:r>
            <a:r>
              <a:rPr lang="ca-ES" i="1">
                <a:ea typeface="+mn-lt"/>
                <a:cs typeface="+mn-lt"/>
              </a:rPr>
              <a:t>Inclou: Modificació d'ingredients, Modalitat d'entrega, Subscripció, Pagar Comanda i Checkout.</a:t>
            </a:r>
            <a:r>
              <a:rPr lang="ca-ES" b="1">
                <a:ea typeface="+mn-lt"/>
                <a:cs typeface="+mn-lt"/>
              </a:rPr>
              <a:t> </a:t>
            </a:r>
            <a:r>
              <a:rPr lang="ca-ES">
                <a:ea typeface="+mn-lt"/>
                <a:cs typeface="+mn-lt"/>
              </a:rPr>
              <a:t>(</a:t>
            </a:r>
            <a:r>
              <a:rPr lang="ca-ES" b="1">
                <a:ea typeface="+mn-lt"/>
                <a:cs typeface="+mn-lt"/>
              </a:rPr>
              <a:t>Oscar</a:t>
            </a:r>
            <a:r>
              <a:rPr lang="ca-ES">
                <a:ea typeface="+mn-lt"/>
                <a:cs typeface="+mn-lt"/>
              </a:rPr>
              <a:t>)</a:t>
            </a:r>
            <a:endParaRPr lang="ca-ES"/>
          </a:p>
          <a:p>
            <a:pPr marL="285750" indent="-285750" algn="just">
              <a:buFont typeface="Arial"/>
              <a:buChar char="•"/>
            </a:pPr>
            <a:r>
              <a:rPr lang="ca-ES" b="1">
                <a:ea typeface="+mn-lt"/>
                <a:cs typeface="+mn-lt"/>
              </a:rPr>
              <a:t>Diagrames de Seqüència de les especificacions </a:t>
            </a:r>
            <a:r>
              <a:rPr lang="ca-ES" i="1">
                <a:ea typeface="+mn-lt"/>
                <a:cs typeface="+mn-lt"/>
              </a:rPr>
              <a:t>Inclou: Repetir comanda, Proposar plats, Disponibilitat del cuiner i Publicació de menús.</a:t>
            </a:r>
            <a:r>
              <a:rPr lang="ca-ES" i="1"/>
              <a:t> </a:t>
            </a:r>
            <a:r>
              <a:rPr lang="ca-ES">
                <a:ea typeface="+mn-lt"/>
                <a:cs typeface="+mn-lt"/>
              </a:rPr>
              <a:t>(</a:t>
            </a:r>
            <a:r>
              <a:rPr lang="ca-ES" b="1">
                <a:ea typeface="+mn-lt"/>
                <a:cs typeface="+mn-lt"/>
              </a:rPr>
              <a:t>David</a:t>
            </a:r>
            <a:r>
              <a:rPr lang="ca-ES">
                <a:ea typeface="+mn-lt"/>
                <a:cs typeface="+mn-lt"/>
              </a:rPr>
              <a:t>)</a:t>
            </a:r>
            <a:endParaRPr lang="ca-ES"/>
          </a:p>
          <a:p>
            <a:pPr marL="285750" indent="-285750" algn="just">
              <a:buFont typeface="Arial"/>
              <a:buChar char="•"/>
            </a:pPr>
            <a:r>
              <a:rPr lang="ca-ES" b="1">
                <a:ea typeface="+mn-lt"/>
                <a:cs typeface="+mn-lt"/>
              </a:rPr>
              <a:t>Diagrames de Seqüència de les especificacions </a:t>
            </a:r>
            <a:r>
              <a:rPr lang="ca-ES" i="1">
                <a:ea typeface="+mn-lt"/>
                <a:cs typeface="+mn-lt"/>
              </a:rPr>
              <a:t>Repartiment, Ruta de lliurament, Estat de la comanda, Xat Privat i Pla de Punts.</a:t>
            </a:r>
            <a:r>
              <a:rPr lang="ca-ES" i="1"/>
              <a:t> </a:t>
            </a:r>
            <a:r>
              <a:rPr lang="ca-ES">
                <a:ea typeface="+mn-lt"/>
                <a:cs typeface="+mn-lt"/>
              </a:rPr>
              <a:t>(</a:t>
            </a:r>
            <a:r>
              <a:rPr lang="ca-ES" b="1">
                <a:ea typeface="+mn-lt"/>
                <a:cs typeface="+mn-lt"/>
              </a:rPr>
              <a:t>Guillem</a:t>
            </a:r>
            <a:r>
              <a:rPr lang="ca-ES">
                <a:ea typeface="+mn-lt"/>
                <a:cs typeface="+mn-lt"/>
              </a:rPr>
              <a:t>)</a:t>
            </a:r>
            <a:endParaRPr lang="ca-ES"/>
          </a:p>
          <a:p>
            <a:pPr marL="285750" indent="-285750" algn="just">
              <a:buFont typeface="Arial"/>
              <a:buChar char="•"/>
            </a:pPr>
            <a:r>
              <a:rPr lang="ca-ES" b="1">
                <a:ea typeface="+mn-lt"/>
                <a:cs typeface="+mn-lt"/>
              </a:rPr>
              <a:t>Correccions del Diagrama de classes amb el feedback</a:t>
            </a:r>
            <a:r>
              <a:rPr lang="ca-ES">
                <a:ea typeface="+mn-lt"/>
                <a:cs typeface="+mn-lt"/>
              </a:rPr>
              <a:t>(Encarregats: </a:t>
            </a:r>
            <a:r>
              <a:rPr lang="ca-ES" b="1">
                <a:ea typeface="+mn-lt"/>
                <a:cs typeface="+mn-lt"/>
              </a:rPr>
              <a:t>Pau i Oscar</a:t>
            </a:r>
            <a:r>
              <a:rPr lang="ca-ES">
                <a:ea typeface="+mn-lt"/>
                <a:cs typeface="+mn-lt"/>
              </a:rPr>
              <a:t>)</a:t>
            </a:r>
            <a:endParaRPr lang="ca-ES"/>
          </a:p>
          <a:p>
            <a:pPr marL="285750" indent="-285750" algn="just">
              <a:buFont typeface="Arial"/>
              <a:buChar char="•"/>
            </a:pPr>
            <a:endParaRPr lang="ca-ES" b="1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ca-ES" b="1">
                <a:ea typeface="+mn-lt"/>
                <a:cs typeface="+mn-lt"/>
              </a:rPr>
              <a:t>Coordinació de l’equip, Burn-down Chart, Trello i Actes de reunions (GitHub)</a:t>
            </a:r>
            <a:r>
              <a:rPr lang="ca-ES">
                <a:ea typeface="+mn-lt"/>
                <a:cs typeface="+mn-lt"/>
              </a:rPr>
              <a:t> (</a:t>
            </a:r>
            <a:r>
              <a:rPr lang="ca-ES" b="1">
                <a:ea typeface="+mn-lt"/>
                <a:cs typeface="+mn-lt"/>
              </a:rPr>
              <a:t>Oscar (SCRUM Master</a:t>
            </a:r>
            <a:r>
              <a:rPr lang="ca-ES">
                <a:ea typeface="+mn-lt"/>
                <a:cs typeface="+mn-lt"/>
              </a:rPr>
              <a:t>)</a:t>
            </a:r>
            <a:endParaRPr lang="ca-ES"/>
          </a:p>
          <a:p>
            <a:pPr marL="285750" indent="-285750" algn="just">
              <a:buFont typeface="Arial"/>
              <a:buChar char="•"/>
            </a:pPr>
            <a:r>
              <a:rPr lang="ca-ES" b="1">
                <a:ea typeface="+mn-lt"/>
                <a:cs typeface="+mn-lt"/>
              </a:rPr>
              <a:t>Preparació i format de la Presentació Final</a:t>
            </a:r>
            <a:r>
              <a:rPr lang="ca-ES">
                <a:ea typeface="+mn-lt"/>
                <a:cs typeface="+mn-lt"/>
              </a:rPr>
              <a:t> (</a:t>
            </a:r>
            <a:r>
              <a:rPr lang="ca-ES" b="1">
                <a:ea typeface="+mn-lt"/>
                <a:cs typeface="+mn-lt"/>
              </a:rPr>
              <a:t>Oscar (SCRUM Master</a:t>
            </a:r>
            <a:r>
              <a:rPr lang="ca-ES">
                <a:ea typeface="+mn-lt"/>
                <a:cs typeface="+mn-lt"/>
              </a:rPr>
              <a:t>)</a:t>
            </a:r>
          </a:p>
          <a:p>
            <a:pPr algn="just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0063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8A28D-E797-68A0-0248-60BF57B1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B7E676-CB4D-7592-5545-7AB9DD4D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EF9857-F30A-0F4C-243D-37AC8B278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98E2054-A507-ADDF-098D-CCF56E3D5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3A35EF-3C15-9E5D-CAB0-703F98E1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10" y="1365472"/>
            <a:ext cx="10094976" cy="35646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/>
              <a:t>Trello Sprint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C03CA-35D7-D2C7-2635-ACAAA2F2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FC0110-6D0A-02B6-D3ED-1B87E28CD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7E68CC-EB20-1008-2F0A-0DE39A2F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059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4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8266-3854-DDD4-083D-00DE051E2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02238-2006-8AA3-B78F-2CD6FD78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Trello (Sprint 4)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64DCC5-F5A9-8D08-7BB7-E906BE15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  <p:pic>
        <p:nvPicPr>
          <p:cNvPr id="3" name="Imatge 2" descr="Imatge que conté text, captura de pantalla, programari, Software de multimèdia&#10;&#10;Pot ser que el contingut generat per IA no sigui correcte.">
            <a:extLst>
              <a:ext uri="{FF2B5EF4-FFF2-40B4-BE49-F238E27FC236}">
                <a16:creationId xmlns:a16="http://schemas.microsoft.com/office/drawing/2014/main" id="{AE022B97-44BF-067A-DB4D-C187285F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81" y="0"/>
            <a:ext cx="1017123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3E9BCD-EC4F-80D8-A5E1-00275D20FBE1}"/>
              </a:ext>
            </a:extLst>
          </p:cNvPr>
          <p:cNvSpPr/>
          <p:nvPr/>
        </p:nvSpPr>
        <p:spPr>
          <a:xfrm>
            <a:off x="13801" y="-13801"/>
            <a:ext cx="1035091" cy="68868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36553-8E9C-FCA4-2170-270A3A3DDCB7}"/>
              </a:ext>
            </a:extLst>
          </p:cNvPr>
          <p:cNvSpPr/>
          <p:nvPr/>
        </p:nvSpPr>
        <p:spPr>
          <a:xfrm>
            <a:off x="11174859" y="-13801"/>
            <a:ext cx="1046297" cy="68868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3199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5D3C1D-A6AE-4FCA-BB76-A4748CE5D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10" y="1365472"/>
            <a:ext cx="10094976" cy="35646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/>
              <a:t>Diagrama Classes final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5BF818-2283-4CC9-A120-9225CEDFA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A42EF-20CC-4BCC-9D0B-222CF3AAE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059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517E-4512-8328-69BC-BF7E4F5B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1DDF3A-F423-F364-87BB-406EEE12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  <p:pic>
        <p:nvPicPr>
          <p:cNvPr id="2" name="Imatge 1" descr="Imatge que conté text, diagrama, Pla, mapa&#10;&#10;Pot ser que el contingut generat per IA no sigui correcte.">
            <a:extLst>
              <a:ext uri="{FF2B5EF4-FFF2-40B4-BE49-F238E27FC236}">
                <a16:creationId xmlns:a16="http://schemas.microsoft.com/office/drawing/2014/main" id="{78B89EE1-946C-A829-66FE-4DF01E0A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00" y="1786"/>
            <a:ext cx="8647643" cy="6856213"/>
          </a:xfrm>
          <a:prstGeom prst="rect">
            <a:avLst/>
          </a:prstGeom>
        </p:spPr>
      </p:pic>
      <p:pic>
        <p:nvPicPr>
          <p:cNvPr id="3" name="Imatge 2" descr="Imatge que conté diagrama, text, dibuix, Pla&#10;&#10;Pot ser que el contingut generat per IA no sigui correcte.">
            <a:extLst>
              <a:ext uri="{FF2B5EF4-FFF2-40B4-BE49-F238E27FC236}">
                <a16:creationId xmlns:a16="http://schemas.microsoft.com/office/drawing/2014/main" id="{1D02D184-59CE-D922-35CF-98247512F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82" y="0"/>
            <a:ext cx="106422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2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9EAB5-AA84-6BD3-CE1D-D1C9E5D8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E1F1E6-5FA0-78BF-80E0-66A982C9B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61CEA-6530-CF15-984F-D6B0B50F4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DAD646-29AF-6125-B55A-1538757B4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98C49-FD74-2618-4714-731D9F11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10" y="1365472"/>
            <a:ext cx="10094976" cy="35646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err="1"/>
              <a:t>Diagrames</a:t>
            </a:r>
            <a:r>
              <a:rPr lang="en-US" sz="8000"/>
              <a:t> de </a:t>
            </a:r>
            <a:r>
              <a:rPr lang="en-US" sz="8000" err="1"/>
              <a:t>Seqüència</a:t>
            </a:r>
            <a:r>
              <a:rPr lang="en-US" sz="8000"/>
              <a:t> 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52C9A9-114E-F4F9-2D38-3296F6994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448BF7-A2B7-52AB-29EE-884827A7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099939-3AA7-AD2F-194C-4F787DC0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059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3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221197F-1E85-7908-451A-1A59673D6F8F}"/>
              </a:ext>
            </a:extLst>
          </p:cNvPr>
          <p:cNvGraphicFramePr>
            <a:graphicFrameLocks noGrp="1"/>
          </p:cNvGraphicFramePr>
          <p:nvPr/>
        </p:nvGraphicFramePr>
        <p:xfrm>
          <a:off x="867387" y="814377"/>
          <a:ext cx="9985528" cy="569056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1" i="0" u="none" strike="noStrike" noProof="0">
                          <a:effectLst/>
                          <a:latin typeface="Neue Haas Grotesk Text Pro"/>
                        </a:rPr>
                        <a:t>Consultar Comandes pendents de repartir</a:t>
                      </a:r>
                      <a:endParaRPr lang="ca-ES" b="1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14/05/2025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Guillem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repartidor visualitza una llista de comandes que ja han estat cuinades i estan esperant algú que les entregui. Només es mostren comandes dins del radi de cerca del repartidor.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Repartidor i Google Maps (Sistema Extern)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repartidor ha d'estar autenticat, en estat "Disponible" i tenir la ubicació activa al dispositiu.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00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repartidor accedeix a la secció "Comandes Pendents".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detecta la ubicació actual del repartidor via GPS.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consulta a la base de dades totes les comandes en estat "Cuinada i pendent d'entrega".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es connecta amb Google Maps per calcular la distància entre el repartidor i cada cuina d'origen.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mostra una llista ordenada per proximitat, incloent per cada comanda: origen (cuina), destí de l'entrega i el guany estimat.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</a:t>
                      </a:r>
                      <a:r>
                        <a:rPr lang="ca-ES" sz="1100" b="0" i="0" u="none" strike="noStrike" kern="1200" noProof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dor revisa la llista i selecciona una comanda disponible per acceptar-la (S'estén de forma explícita al CU: "Acceptar Comanda").</a:t>
                      </a:r>
                      <a:endParaRPr lang="ca-ES" sz="1100" b="0" i="0" u="none" strike="noStrike" kern="1200">
                        <a:solidFill>
                          <a:srgbClr val="1F1F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  <a:cs typeface="Arial"/>
                        </a:rPr>
                        <a:t>A1. No hi ha comandes disponibles:</a:t>
                      </a:r>
                      <a:endParaRPr lang="ca-ES" b="0"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  <a:cs typeface="Arial"/>
                        </a:rPr>
                        <a:t>Al pas 5, si no hi ha comandes a la zona, el sistema mostra el missatge "No hi ha comandes properes en aquest moment".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  <a:cs typeface="Arial"/>
                        </a:rPr>
                        <a:t>El sistema ofereix al repartidor l'opció d'ampliar el radi de cerca.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Si el repartidor accepta, el sistema torna al pas 3 amb el nou radi.</a:t>
                      </a:r>
                      <a:endParaRPr lang="ca-ES"/>
                    </a:p>
                    <a:p>
                      <a:pPr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A2. Actualització automàtica de la llista: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La llista es refresca periòdicament per mostrar noves comandes sense necessitat de recarregar la pàgina.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982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</a:rPr>
                        <a:t>Ubicació no disponible: Si el repartidor no té la ubicació activada o el GPS falla, el sistema mostra l'avís "Necessitem la teva ubicació per mostrar comandes properes" i el redirigeix a la configuració del dispositiu per activar-la.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2716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2372-5645-48E3-ED49-621EBBF6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EA19A-C44E-A1DA-0CE6-3ECBB8AC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0C3789-57C2-9276-B5E3-BEF03B1A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/>
          </a:p>
        </p:txBody>
      </p:sp>
      <p:pic>
        <p:nvPicPr>
          <p:cNvPr id="5" name="Imatge 4" descr="Imatge que conté text, captura de pantalla, diagrama, nombre&#10;&#10;Pot ser que el contingut generat per IA no sigui correcte.">
            <a:extLst>
              <a:ext uri="{FF2B5EF4-FFF2-40B4-BE49-F238E27FC236}">
                <a16:creationId xmlns:a16="http://schemas.microsoft.com/office/drawing/2014/main" id="{E51016D7-83AF-5BB8-3E90-48600A1BD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67" y="664226"/>
            <a:ext cx="9798485" cy="553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6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C7105-269D-532F-B82D-D4898791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0798D-CEE8-2916-3C67-65B9C394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7A2A6E-F6E6-787C-5215-504EC715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51B3FE2-1A0C-344E-0DB4-DA8A966A68B3}"/>
              </a:ext>
            </a:extLst>
          </p:cNvPr>
          <p:cNvGraphicFramePr>
            <a:graphicFrameLocks noGrp="1"/>
          </p:cNvGraphicFramePr>
          <p:nvPr/>
        </p:nvGraphicFramePr>
        <p:xfrm>
          <a:off x="626961" y="549270"/>
          <a:ext cx="10939278" cy="55816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4602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4891420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70571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6268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Consultar plats i menús disponibles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18/05/2025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305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Permet a qualsevol usuari visualitzar el catàleg general de plats i menús publicats pels cuiners a la plataforma QueMenges. Opcionalment, si l'usuari ha iniciat sessió i té la seva ubicació configurada, pot utilitzar un filtre per ordenar i restringir els resultats per distància.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Usuari no registrat (i qualsevol usuari registrat per herència) i Google Maps (Sistema Extern).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3361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1. L'usuari accedeix a la pantalla principal (catàleg) de l'aplicació.</a:t>
                      </a:r>
                      <a:endParaRPr lang="ca-ES" sz="1100" b="0">
                        <a:solidFill>
                          <a:srgbClr val="1F1F1F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2. El sistema consulta a la base de dades tots els plats i menús actius de manera general.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3. El sistema mostra la llista completa amb les imatges, títols, categories i preus dels plats disponibles.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4. L'usuari pot navegar lliurement per aquest catàleg.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5. L'usuari selecciona un plat o menú per veure'n els detalls.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6. El sistema mostra la fitxa del plat amb la descripció, llista d'ingredients, al·lèrgens, opcionals i la valoració del cuiner.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7. El procés finalitza quan l'usuari tanca la fitxa o, si està registrat com a comprador, decideix iniciar una comanda.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A1. Filtrar per distància (requereix ubicació):</a:t>
                      </a:r>
                      <a:endParaRPr lang="es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Al pas 3, l'usuari decideix activar el filtre de proximitat.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El sistema comprova que l'usuari tingui la sessió iniciada i una ubicació guardada al perfil.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El sistema es connecta amb 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Google Maps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 per calcular la distància entre l'usuari i les cuines.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El sistema actualitza la llista mostrant només els plats que entren dins del radi seleccionat.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A2. Filtrar per altres criteris o cerca manual: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Al pas 4, l'usuari utilitza la barra de cerca (per paraula clau) o aplica filtres de restriccions alimentàries del perfil.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El sistema refina els resultats de la llista general mostrant només els que coincideixen amb els criteris.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1" i="0" u="none" strike="noStrike" noProof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        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</a:rPr>
                        <a:t>Usuari sense ubicació intenta filtrar per distància: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Al subflux A1, si un Usuari no registrat o un d'iniciat sense adreça guardada intenta activar el filtre de distància, el sistema mostra l'avís "Per filtrar per distància necessitem la teva ubicació".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1" i="0" u="none" strike="noStrike" noProof="0">
                        <a:solidFill>
                          <a:srgbClr val="1F1F1F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72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noProof="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8758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3C2C6-B690-4B7D-0A0F-47A9EFF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6C2568-5805-6D5C-BB27-F900F13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/>
          </a:p>
        </p:txBody>
      </p:sp>
      <p:pic>
        <p:nvPicPr>
          <p:cNvPr id="2" name="Imatge 1" descr="Imatge que conté text, diagrama, Paral·lel, línia&#10;&#10;Pot ser que el contingut generat per IA no sigui correcte.">
            <a:extLst>
              <a:ext uri="{FF2B5EF4-FFF2-40B4-BE49-F238E27FC236}">
                <a16:creationId xmlns:a16="http://schemas.microsoft.com/office/drawing/2014/main" id="{0C2382FB-EB26-49ED-6705-AE06B0BB5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7" r="-142" b="771"/>
          <a:stretch>
            <a:fillRect/>
          </a:stretch>
        </p:blipFill>
        <p:spPr>
          <a:xfrm>
            <a:off x="2319740" y="0"/>
            <a:ext cx="7667353" cy="6857211"/>
          </a:xfrm>
          <a:prstGeom prst="rect">
            <a:avLst/>
          </a:prstGeom>
        </p:spPr>
      </p:pic>
      <p:pic>
        <p:nvPicPr>
          <p:cNvPr id="3" name="Imatge 2">
            <a:extLst>
              <a:ext uri="{FF2B5EF4-FFF2-40B4-BE49-F238E27FC236}">
                <a16:creationId xmlns:a16="http://schemas.microsoft.com/office/drawing/2014/main" id="{B4C37671-C17C-043C-9B63-A6A72082B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791" y="0"/>
            <a:ext cx="954241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0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1BAB-F5D5-CB4C-606E-045DC8393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98B1-626D-8FA1-5940-CE8A285C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2FE5919-22C1-45DD-2990-196DD9E59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04195"/>
              </p:ext>
            </p:extLst>
          </p:nvPr>
        </p:nvGraphicFramePr>
        <p:xfrm>
          <a:off x="758522" y="657282"/>
          <a:ext cx="10684062" cy="593810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81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50408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3859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00563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587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Pagar comanda (Independent)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587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15/04/2025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587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Oscar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5712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Permet als compradors pagar la comanda que estan realitzant després d'haver afegit tots els productes al carret i haver escollit la modalitat d'entrega preferida.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587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Comprador, PayPal / Entitat bancària (extern)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30421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ha d'estar en procés de fer una comanda i ha d'haver seleccionat una modalitat d'entrega.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20104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 selecciona 'continuar al pagament'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sistema calcula el preu de la comanda a partir dels productes seleccionats i la modalitat d’entrega.</a:t>
                      </a:r>
                      <a:endParaRPr lang="es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 El sistema mostra el preu per pantalla.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El comprador prem el botó ‘pagar comanda’.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5. El sistema connecta al comprador amb PayPal / La seva entitat bancària per fer el pagament.</a:t>
                      </a:r>
                      <a:endParaRPr lang="en-U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6. El sistema li mostra la comanda completada, i li informa al client que pot veure el seu estat.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95233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S1. Sense métode de pagament vinculat (Deriva del punt 5):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client no té cap métode de pagament configurat al seu perfil, el sistema li demanarà que seleccioni el seu métode preferit i li demanarà les dades pel pagament.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S2. Punts de la comanda (Deriva del punt 3):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comprador té activa la subscripció mensual de l'aplicació, el sistema mostrarà també els punts que proporciona aquesta comanda.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47616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A1. Error en el pagament: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l’usuari no té suficients fons o succeeix qualsevol error en el pagament, el sistema mostrarà a l’usuari un missatge d’error amb la descripció adient.</a:t>
                      </a:r>
                      <a:endParaRPr lang="ca-ES" sz="1100" b="1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47616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sistema registra el pagament i divideix els fons entre el cuiner, la propia app i el repartidor (si n’hi ha) i els avisa per començar el procés de la comanda.</a:t>
                      </a:r>
                    </a:p>
                    <a:p>
                      <a:pPr lvl="0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587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RNF-4-01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587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Alta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587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2061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5B21-7C49-592D-354B-8A8E8CB9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202D36-2F54-9AC9-539D-C38DFEB2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/>
          </a:p>
        </p:txBody>
      </p:sp>
      <p:pic>
        <p:nvPicPr>
          <p:cNvPr id="2" name="Imatge 1" descr="Imatge que conté text, diagrama, Paral·lel, línia&#10;&#10;Pot ser que el contingut generat per IA no sigui correcte.">
            <a:extLst>
              <a:ext uri="{FF2B5EF4-FFF2-40B4-BE49-F238E27FC236}">
                <a16:creationId xmlns:a16="http://schemas.microsoft.com/office/drawing/2014/main" id="{C610BFAF-1204-2446-1B4B-CDC4F82F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55" y="0"/>
            <a:ext cx="10038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09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9D729-E2D7-1DF9-2D94-23E18DC2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CAB63-6009-B067-BA9C-1CF101C1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98C6D2-B6E8-67A8-E3AD-37F5B424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17CEDCFA-5356-BCF2-FBBF-C56E4303A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10577"/>
              </p:ext>
            </p:extLst>
          </p:nvPr>
        </p:nvGraphicFramePr>
        <p:xfrm>
          <a:off x="1102770" y="757267"/>
          <a:ext cx="9985528" cy="525049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 D’ÚS:</a:t>
                      </a: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kern="1200" noProof="0">
                          <a:solidFill>
                            <a:schemeClr val="lt1"/>
                          </a:solidFill>
                          <a:effectLst/>
                        </a:rPr>
                        <a:t>Repetir Comanda Anterior (Extend)</a:t>
                      </a:r>
                      <a:endParaRPr lang="en-US" b="1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David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pot repetir una comanda que havia fet anteriorment amb els mateixos productes i modificacions, però pot canviar el pagament i direcció.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Comprador 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identificat en l’aplicació haurà d’haver fet obligatoriament alguna comanda amb anterioritat i el cuiner que havia cuinat l’anterior comanda haurà d’estar disponible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00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1. En l’apartat de “Comandes” de l’aplicació el client li donarà al botó que diu “Historial”</a:t>
                      </a: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client podrà seleccionar qualsevol comanda que hagi fet simplement fent click sobre aquesta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 Un cop dins de la comanda, tindrà una opció que diu “Repetir Comanda” i la seleccionarà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Després, automàticament, es verificarà la disponibilitat del cuiner </a:t>
                      </a:r>
                      <a:endParaRPr lang="en-U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5. Per últim només haurà d'afegir el mètode de pagament i la direcció per finalitzar la comanda</a:t>
                      </a:r>
                      <a:endParaRPr lang="en-U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6493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-Cuiner no disponible: No es pot repetir la comanda, ja que el cuiner que la oferia no està disponible</a:t>
                      </a:r>
                      <a:endParaRPr lang="ca-E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</a:rPr>
                        <a:t>-H</a:t>
                      </a: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storial de compres desactivat: El client no pot repetir la comanda per culpa de tenir l'historial de compres desactivat</a:t>
                      </a:r>
                      <a:endParaRPr lang="ca-ES" sz="1100" b="0" i="0" u="none" strike="noStrike" noProof="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cuiner realitza de nou la comanda que previament va fer el comprador</a:t>
                      </a: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kern="1200" noProof="0">
                          <a:solidFill>
                            <a:srgbClr val="1F1F1F"/>
                          </a:solidFill>
                          <a:effectLst/>
                        </a:rPr>
                        <a:t>RNF-2-01</a:t>
                      </a: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83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BA46-AD2A-95EC-EEAC-5B82E1D5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D863AD-25A1-DEE6-01D7-FB714EFA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16</a:t>
            </a:fld>
            <a:endParaRPr lang="en-US"/>
          </a:p>
        </p:txBody>
      </p:sp>
      <p:pic>
        <p:nvPicPr>
          <p:cNvPr id="5" name="Imatge 4" descr="Imatge que conté text, diagrama, línia, Dibuix tècnic&#10;&#10;Pot ser que el contingut generat per IA no sigui correcte.">
            <a:extLst>
              <a:ext uri="{FF2B5EF4-FFF2-40B4-BE49-F238E27FC236}">
                <a16:creationId xmlns:a16="http://schemas.microsoft.com/office/drawing/2014/main" id="{E6DEC5D2-9152-9E7A-E935-D88747A50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278" y="0"/>
            <a:ext cx="9104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67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Burn-down chart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12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QuadreDeText 4">
            <a:extLst>
              <a:ext uri="{FF2B5EF4-FFF2-40B4-BE49-F238E27FC236}">
                <a16:creationId xmlns:a16="http://schemas.microsoft.com/office/drawing/2014/main" id="{3A7E94FA-75FB-D461-B2B1-A1751B33E2F9}"/>
              </a:ext>
            </a:extLst>
          </p:cNvPr>
          <p:cNvSpPr txBox="1"/>
          <p:nvPr/>
        </p:nvSpPr>
        <p:spPr>
          <a:xfrm>
            <a:off x="1490532" y="2856853"/>
            <a:ext cx="2373810" cy="3422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ca-ES"/>
          </a:p>
        </p:txBody>
      </p:sp>
      <p:pic>
        <p:nvPicPr>
          <p:cNvPr id="6" name="Imatge 5" descr="Imatge que conté text, nombre, captura de pantalla&#10;&#10;Pot ser que el contingut generat per IA no sigui correcte.">
            <a:extLst>
              <a:ext uri="{FF2B5EF4-FFF2-40B4-BE49-F238E27FC236}">
                <a16:creationId xmlns:a16="http://schemas.microsoft.com/office/drawing/2014/main" id="{AE4115D1-9628-A91A-69E8-B6F44B17C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12" y="1892151"/>
            <a:ext cx="4060346" cy="4698341"/>
          </a:xfrm>
          <a:prstGeom prst="rect">
            <a:avLst/>
          </a:prstGeom>
        </p:spPr>
      </p:pic>
      <p:pic>
        <p:nvPicPr>
          <p:cNvPr id="7" name="Imatge 6" descr="Imatge que conté text, diagrama, Trama, línia&#10;&#10;Pot ser que el contingut generat per IA no sigui correcte.">
            <a:extLst>
              <a:ext uri="{FF2B5EF4-FFF2-40B4-BE49-F238E27FC236}">
                <a16:creationId xmlns:a16="http://schemas.microsoft.com/office/drawing/2014/main" id="{D6F533E5-FB95-C691-E7D8-EEE05133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5" b="-259"/>
          <a:stretch>
            <a:fillRect/>
          </a:stretch>
        </p:blipFill>
        <p:spPr>
          <a:xfrm>
            <a:off x="6390017" y="2018221"/>
            <a:ext cx="4444048" cy="471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431-07</a:t>
            </a:r>
          </a:p>
          <a:p>
            <a:pPr>
              <a:lnSpc>
                <a:spcPct val="100000"/>
              </a:lnSpc>
            </a:pPr>
            <a:endParaRPr lang="ca-ES" sz="1400"/>
          </a:p>
          <a:p>
            <a:pPr>
              <a:lnSpc>
                <a:spcPct val="100000"/>
              </a:lnSpc>
            </a:pPr>
            <a:r>
              <a:rPr lang="ca-ES" sz="1400" err="1"/>
              <a:t>Sprint</a:t>
            </a:r>
            <a:r>
              <a:rPr lang="ca-ES" sz="140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BDA8-4F9A-5123-3FD9-1162E465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7DF59C-D2A9-0950-25A2-6B1E6D38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0FF6648-E0A1-770F-4AF1-2014B079C1DB}"/>
              </a:ext>
            </a:extLst>
          </p:cNvPr>
          <p:cNvGraphicFramePr>
            <a:graphicFrameLocks noGrp="1"/>
          </p:cNvGraphicFramePr>
          <p:nvPr/>
        </p:nvGraphicFramePr>
        <p:xfrm>
          <a:off x="758522" y="1170435"/>
          <a:ext cx="10684062" cy="55599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81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50408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3859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00563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Fer comanda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15/04/2025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Oscar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502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Permet al comprador construir una comanda afegint un o diversos plats per afegir al carret, i mostra al comprador el resum de la comanda abans de procedir a escollir la modalitat d'entrega, per acabar registrant la comanda.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Comprador.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L'usuari ha d'estar autenticat i tenir el rol de Comprador actiu.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21317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1. El comprador navega pel catàleg i afegeix els plats o menús que desitji  al carret.</a:t>
                      </a:r>
                      <a:endParaRPr lang="es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sistema desa temporalment al carret els articles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 El comprador accedeix al carret de la comanda.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El sistema mostra el resum de la comanda (plats i quantitats) i el preu total abans del preu de repartiment.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5. El comprador presiona el botó 'Procedir amb la comanda'.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6.</a:t>
                      </a: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&lt;&lt;include&gt;&gt;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Seleccionar Modalitat d'entrega</a:t>
                      </a:r>
                    </a:p>
                    <a:p>
                      <a:pPr marL="0" lvl="0" indent="0" algn="just">
                        <a:buNone/>
                      </a:pP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0049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S1. Plats esgotats (Subfluxe del punt 2):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Si un plat deixa d'estar disponible durant el procés, el sistema demana actualitzar el carret.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/>
                      </a:b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S2.Treure plats (Subfluxe del punt 3):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El comprador pot treure plats del carret en qualsevol moment des de la vista del carret.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4567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A1. Carret buit: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Si el comprador intenta confirmar sense plats, el sistema mostra un avís i torna al catàleg.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Es crea la comanda al sistema i es queda com pendent de pagament.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Alta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674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7299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A7BA-565B-4ABE-B5EC-6E1A6A0E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44BBF7-CB87-CC60-1181-7091A427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/>
          </a:p>
        </p:txBody>
      </p:sp>
      <p:pic>
        <p:nvPicPr>
          <p:cNvPr id="5" name="Imatge 4" descr="Imatge que conté text, diagrama, Paral·lel, línia&#10;&#10;Pot ser que el contingut generat per IA no sigui correcte.">
            <a:extLst>
              <a:ext uri="{FF2B5EF4-FFF2-40B4-BE49-F238E27FC236}">
                <a16:creationId xmlns:a16="http://schemas.microsoft.com/office/drawing/2014/main" id="{FB08EC83-FD8F-A785-A1BD-113E40D35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193" y="0"/>
            <a:ext cx="65092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26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8BCB-E179-3B8D-D210-F6C99D94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F6BDB9-8EC4-14AE-91EB-10F444C7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8E50CFC-B01F-E869-27C2-81289A7B4EC9}"/>
              </a:ext>
            </a:extLst>
          </p:cNvPr>
          <p:cNvGraphicFramePr>
            <a:graphicFrameLocks noGrp="1"/>
          </p:cNvGraphicFramePr>
          <p:nvPr/>
        </p:nvGraphicFramePr>
        <p:xfrm>
          <a:off x="758522" y="999642"/>
          <a:ext cx="10684062" cy="51863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81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50408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3859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00563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Modificar ingredients opcionals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14/04/2025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Oscar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5302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Permet al comprador modificar els ingredients d’un plat marcats com a opcionals pel cuiner.</a:t>
                      </a:r>
                      <a:endParaRPr lang="es-ES" b="0" i="0" u="none" strike="noStrike" noProof="0">
                        <a:solidFill>
                          <a:srgbClr val="1F1F1F"/>
                        </a:solidFill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Comprador.</a:t>
                      </a:r>
                      <a:endParaRPr lang="ca-ES" sz="10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S'ha d'estar en procés de fer una comanda i s'ha d'haver invocat aquest cas d'us com a &lt;&lt;include&gt;&gt; de 'Fer_comanda'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875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navega pels plats i menús oferits i afegeix un plat al carret.</a:t>
                      </a:r>
                      <a:endParaRPr lang="ca-ES" sz="10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342900" lvl="0" indent="-342900" algn="just">
                        <a:buAutoNum type="arabicPeriod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accedeix a la seva comanda en curs (carret de plats).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selecciona l’opció de modificar ingredients opcionals del plat (si n’hi ha).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modifica els ingredients opcionals al seu gust i guarda la configuració del plat per la comanda.</a:t>
                      </a:r>
                    </a:p>
                    <a:p>
                      <a:pPr marL="0" lvl="0" indent="0" algn="just">
                        <a:buNone/>
                      </a:pP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6915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A1. Cancelació de modificació: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En qualsevol moment abans de guardar, el comprador pot cancelar l’acció. El sistema descarta els canvis i retorna a la pantalla de la comanda amb la configuració original del plat.</a:t>
                      </a:r>
                      <a:endParaRPr lang="ca-E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A2. Sense ingredients opcionals: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un plat no té ingredients catalogats pel cuiner com a ‘opcionals’, no hi haurà l’opció de modificar ingredients en el plat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La configuració del plat queda guardada a la comanda en la que s’hagi modificat.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Baixa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074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453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26EA-C3E1-DCE8-B2FB-EBE42975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B60310-9656-1BAD-5539-6A8DA588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/>
          </a:p>
        </p:txBody>
      </p:sp>
      <p:pic>
        <p:nvPicPr>
          <p:cNvPr id="2" name="Imatge 1">
            <a:extLst>
              <a:ext uri="{FF2B5EF4-FFF2-40B4-BE49-F238E27FC236}">
                <a16:creationId xmlns:a16="http://schemas.microsoft.com/office/drawing/2014/main" id="{BA177DEB-3EB9-DE36-84DC-87B5C3236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8" y="47625"/>
            <a:ext cx="5267325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69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816E-F752-826E-9252-C3426386E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78CFAE-A15C-F5BB-1B32-D6183193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EEE8AD6-9684-668B-269B-6930D79675C9}"/>
              </a:ext>
            </a:extLst>
          </p:cNvPr>
          <p:cNvGraphicFramePr>
            <a:graphicFrameLocks noGrp="1"/>
          </p:cNvGraphicFramePr>
          <p:nvPr/>
        </p:nvGraphicFramePr>
        <p:xfrm>
          <a:off x="705970" y="526676"/>
          <a:ext cx="10684062" cy="612466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81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50408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3859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00563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Seleccionar modalitat d'entrega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15/04/2025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Oscar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6420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selecciona una de les 3 modalitats d’entrega al fer una comanda. Pot seleccionar entrega per repartidor, entrega per part del cuiner o recollida en casa del cuiner, i s'ajusta el preu final de la comanda calculant els costos de desplaçament.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Comprador, Google maps (extern)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S'ha d'haver invocat el cas d'ús com a &lt;&lt;include&gt;&gt; de 'Fer comanda'.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36265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1. El comprador procedeix amb la comanda després d'haver vist el resum de la comanda.</a:t>
                      </a:r>
                      <a:endParaRPr lang="ca-ES" sz="10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sistema li demana que seleccioni una de les 3 modalitats d’entrega disponibles abans de pagar la comanda.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 El comprador selecciona la seva modalitat preferida</a:t>
                      </a:r>
                      <a:endParaRPr lang="en-U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El comprador selecciona 'Continuar al pagament'.</a:t>
                      </a:r>
                    </a:p>
                    <a:p>
                      <a:pPr marL="0" lvl="0" indent="0" algn="just">
                        <a:buNone/>
                      </a:pP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1006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S1. Repartidors no disponibles (Subfluxe del punt 3):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sistema detecta que no hi ha repartidors disponibles en l’àrea, emitirà un missatge d’error a l’usuari i el tornarà a la pantalla de selecció de modalitat d’entrega.</a:t>
                      </a: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S2. Falta d’adreça (Subfluxe del punt 3): 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l’usuari selecciona entrega per repartidor o pel cuiner i no ha proporcionat cap adreça al seu perfil, el sistema li demanarà que proporcioni una adreça vàlida, després de lo qual serà enviat de nou cap a la pantalla de selecció de modalitat.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4978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A1. Cancelació de selecció: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En qualsevol moment abans de seleccionar la modalitat, el comprador pot sortir d’aquesta pantalla i tornar a la pantalla del carret/comanda.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Es calcula el cost d’enviament segons la modalitat d’entega i es pot procedir a pagar la comanda.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Alta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62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93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2DF2-07DB-997A-5AAC-0792B190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704850-A398-1D09-9D7F-4D89E283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/>
          </a:p>
        </p:txBody>
      </p:sp>
      <p:pic>
        <p:nvPicPr>
          <p:cNvPr id="2" name="Imatge 1" descr="Imatge que conté text, diagrama, Paral·lel, línia&#10;&#10;Pot ser que el contingut generat per IA no sigui correcte.">
            <a:extLst>
              <a:ext uri="{FF2B5EF4-FFF2-40B4-BE49-F238E27FC236}">
                <a16:creationId xmlns:a16="http://schemas.microsoft.com/office/drawing/2014/main" id="{3D9889AD-9699-002D-E48B-2CB131F56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285" y="1079"/>
            <a:ext cx="6746035" cy="685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43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62633-F37B-FC57-0A25-E97CCEA8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B8353E-BAF8-AA3F-06D8-B7FE970D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21E4162-36F5-024A-3233-834089D348FC}"/>
              </a:ext>
            </a:extLst>
          </p:cNvPr>
          <p:cNvGraphicFramePr>
            <a:graphicFrameLocks noGrp="1"/>
          </p:cNvGraphicFramePr>
          <p:nvPr/>
        </p:nvGraphicFramePr>
        <p:xfrm>
          <a:off x="758522" y="1183573"/>
          <a:ext cx="10684062" cy="506568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81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50408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3859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00563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4024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Consultar comandes anteriors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4024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15/04/2025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4024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Oscar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560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Els compradors poden accedir al seu historial de comandes per veure les que han realitzat anteriorment.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4024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Comprador.</a:t>
                      </a:r>
                      <a:endParaRPr lang="ca-ES" sz="10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4024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ha d’estar a la pantalla de consulta de plats i menús.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58255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1. El comprador selecciona el botó ‘veure comandes anteriors’.</a:t>
                      </a:r>
                      <a:endParaRPr lang="es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sistema mostra una llista de les comandes del sistema.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 El comprador selecciona una de les comandes mostrades pel sistema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El sistema li mostra al comprador la comanda amb tot els detalls (plats, modificacions, modalitat d’entrega seleccionada, etc.)</a:t>
                      </a: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3236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 b="1">
                          <a:effectLst/>
                          <a:latin typeface="Arial"/>
                          <a:cs typeface="Arial"/>
                        </a:rPr>
                        <a:t>S1. Ordenació de comandes anteriors (Subfluxe del punt 2):</a:t>
                      </a:r>
                      <a:r>
                        <a:rPr lang="ca-ES" sz="1100" b="0">
                          <a:effectLst/>
                          <a:latin typeface="Arial"/>
                          <a:cs typeface="Arial"/>
                        </a:rPr>
                        <a:t> El client pot ordenar la llista de comandes anteriors per ordre alfabètic y/o data. </a:t>
                      </a:r>
                      <a:endParaRPr lang="ca-ES" sz="1100" b="0">
                        <a:effectLst/>
                      </a:endParaRPr>
                    </a:p>
                    <a:p>
                      <a:pPr lvl="0" algn="just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394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A1. Sortida de la vista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: El comprador pot sortir de la pantalla de consulta de comandes anteriors en qualsevol moment, tornant a la consulta de plats i menús.</a:t>
                      </a:r>
                      <a:endParaRPr lang="es-E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A2. Historial buit: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sistema no troba cap comanda realitzada anteriorment, mostrarà un missatge d’error.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3236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client pot consultar la comanda anterior seleccionada.</a:t>
                      </a:r>
                    </a:p>
                    <a:p>
                      <a:pPr lvl="0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4024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4024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833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157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B7AE-C9A5-FF76-7753-030CA71A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D6F8FF-1231-D544-A26F-BDE51883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/>
          </a:p>
        </p:txBody>
      </p:sp>
      <p:pic>
        <p:nvPicPr>
          <p:cNvPr id="2" name="Imatge 1" descr="Imatge que conté text, diagrama, captura de pantalla, Paral·lel&#10;&#10;Pot ser que el contingut generat per IA no sigui correcte.">
            <a:extLst>
              <a:ext uri="{FF2B5EF4-FFF2-40B4-BE49-F238E27FC236}">
                <a16:creationId xmlns:a16="http://schemas.microsoft.com/office/drawing/2014/main" id="{2BB74C9E-0E1C-F556-8116-A1C314F04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391" y="1079"/>
            <a:ext cx="6711709" cy="685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63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7706-CB17-D6A9-D30A-4C43EC6F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FF35DF-9733-4B70-8C6B-F5744320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C1832E7-E521-8423-DA61-0E39134FE00E}"/>
              </a:ext>
            </a:extLst>
          </p:cNvPr>
          <p:cNvGraphicFramePr>
            <a:graphicFrameLocks noGrp="1"/>
          </p:cNvGraphicFramePr>
          <p:nvPr/>
        </p:nvGraphicFramePr>
        <p:xfrm>
          <a:off x="705970" y="526676"/>
          <a:ext cx="10684062" cy="59291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81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50408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3859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00563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Pagar Subscripció mensual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15/04/2025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Oscar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55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Els usuaris poden seleccionar pagar una subscripció opcional que dona accés a una tarifa plana i pla d’obtenció de punts.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Comprador, PayPal / Entitat bancària (extern)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L'usuari ha d'estar registrat i tenir el rol de comprador actiu.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31235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1. El comprador selecciona el botó de ‘subscripció opcional’</a:t>
                      </a:r>
                      <a:endParaRPr lang="es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sistema li ofereix informació sobre aquesta subscripció, incluint el preu.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 El comprador selecciona ‘pagar subscripció’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El sistema connecta al comprador amb PayPal / La seva entitat bancària per fer el pagament.</a:t>
                      </a:r>
                      <a:endParaRPr lang="ca-ES"/>
                    </a:p>
                    <a:p>
                      <a:pPr marL="0" lvl="0" indent="0" algn="just">
                        <a:buNone/>
                      </a:pP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63499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S1. Sense métode de pagament vinculat (Subfluxe del punt 4):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client no té cap métode de pagament configurat al seu perfil, el sistema li demanarà que seleccioni el seu métode preferit i li demanarà les dades pel pagament.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047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A1. Sortida de la pantalla de la suscripció: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pot sortir de la pantalla d’informació de la subscripció en qualsevol moement sense realitzar el pagament.</a:t>
                      </a:r>
                      <a:endParaRPr lang="es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A2. Error en el pagament: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l’usuari no té suficients fons o succeeix qualsevol error en el pagament, el sistema mostrarà a l’usuari un missatge d’error amb la descripció adient.</a:t>
                      </a:r>
                      <a:endParaRPr lang="ca-E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client obté la subscripció i pot gaudir dels seus beneficis.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RNF-4-01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64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728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4666-1DF5-16F2-BC55-92D89CDF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BA19AC-F17C-204D-D020-30C4343D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28</a:t>
            </a:fld>
            <a:endParaRPr lang="en-US"/>
          </a:p>
        </p:txBody>
      </p:sp>
      <p:pic>
        <p:nvPicPr>
          <p:cNvPr id="3" name="Imatge 2" descr="Imatge que conté text, diagrama, Paral·lel, línia&#10;&#10;Pot ser que el contingut generat per IA no sigui correcte.">
            <a:extLst>
              <a:ext uri="{FF2B5EF4-FFF2-40B4-BE49-F238E27FC236}">
                <a16:creationId xmlns:a16="http://schemas.microsoft.com/office/drawing/2014/main" id="{C9184CA5-8407-EC8B-16AB-E4BA217D2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23" y="0"/>
            <a:ext cx="7569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63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BDB0-9597-06D9-2693-660F5052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51F5F-2537-13A0-99E6-B4399B22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E7DDBC3-0563-47A6-D6FE-0C2DDFD49B81}"/>
              </a:ext>
            </a:extLst>
          </p:cNvPr>
          <p:cNvGraphicFramePr>
            <a:graphicFrameLocks noGrp="1"/>
          </p:cNvGraphicFramePr>
          <p:nvPr/>
        </p:nvGraphicFramePr>
        <p:xfrm>
          <a:off x="758522" y="841986"/>
          <a:ext cx="10684062" cy="59800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81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50408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3859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00563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Puntuar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1.1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15/04/2025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Oscar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123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Els compradors poden puntuar una comanda realitzada i completada anteriorment, valorant aspectes com la puntualitat de l’entrega i l’estat del menjar, lo qual s'associarà als perfils del cuiner i repartidor (si n'hi havia).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Comprador.</a:t>
                      </a:r>
                      <a:endParaRPr lang="ca-ES" sz="10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comprador ha d’haver seleccionat una comanda anterior que no hagi estat puntuada anteriorment.</a:t>
                      </a:r>
                      <a:endParaRPr lang="ca-ES" sz="1100" b="1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7202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1. El comprador selecciona el botó de ‘puntuar comanda’</a:t>
                      </a:r>
                      <a:endParaRPr lang="es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sistema mostra un formulari de valoració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 El comprador evalúa els diferents aspectes de la comanda (entrega, menjar, servei, etc.)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El comprador confirma la valoració.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5. El sistema valida les dades introduides.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6. El sistema li mostra un missatge d'agraïment al comprador i el torna a la consulta de comandes anteriors.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62555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S1. Camps obligatoris buits (Deriva del punt 3):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client intenta confirmar la valoració sense haver omplert la puntuació numèrica del plat i el repartidor (si n'hi ha), el sistema li mostrarà un avís i no li deixarà continuar fins que aquests camps estiguin oberts.</a:t>
                      </a:r>
                    </a:p>
                    <a:p>
                      <a:pPr lvl="0" algn="just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62555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A1. Sortida de la vista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: El comprador pot cancelar la puntuació de la comanda i tornar a la llista de comandes anteriors</a:t>
                      </a:r>
                      <a:endParaRPr lang="es-E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.</a:t>
                      </a:r>
                      <a:endParaRPr lang="es-E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A2. Historial buit: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sistema no troba cap comanda realitzada anteriorment, mostrarà un missatge d’error.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3127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sistema guarda la puntuació del comprador i l’associa als perfils del cuiner i el repartidor (si era entregada per repartidor).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Baixa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559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401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F64BF-7ED9-1BBF-B451-3E3884D4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50B116-E892-D83C-56F4-33D1EC58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30</a:t>
            </a:fld>
            <a:endParaRPr lang="en-US"/>
          </a:p>
        </p:txBody>
      </p:sp>
      <p:pic>
        <p:nvPicPr>
          <p:cNvPr id="2" name="Imatge 1" descr="Imatge que conté text, diagrama, Paral·lel, línia&#10;&#10;Pot ser que el contingut generat per IA no sigui correcte.">
            <a:extLst>
              <a:ext uri="{FF2B5EF4-FFF2-40B4-BE49-F238E27FC236}">
                <a16:creationId xmlns:a16="http://schemas.microsoft.com/office/drawing/2014/main" id="{16DBD4A1-8AEA-9523-EC09-B0D12248E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9" y="-1104"/>
            <a:ext cx="10714658" cy="686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28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3054-EACC-6519-B326-A99C48D92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B29A15-8AE6-FF87-819B-5E55D1E8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31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089CE3-1318-9522-E49D-9330B96E4C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24063" y="549275"/>
            <a:ext cx="10167937" cy="1179513"/>
          </a:xfrm>
        </p:spPr>
        <p:txBody>
          <a:bodyPr/>
          <a:lstStyle/>
          <a:p>
            <a:r>
              <a:rPr lang="ca-ES"/>
              <a:t>Especificacions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C2BAF99-31A5-CDBA-EF08-CE2C4EA0691A}"/>
              </a:ext>
            </a:extLst>
          </p:cNvPr>
          <p:cNvGraphicFramePr>
            <a:graphicFrameLocks noGrp="1"/>
          </p:cNvGraphicFramePr>
          <p:nvPr/>
        </p:nvGraphicFramePr>
        <p:xfrm>
          <a:off x="337594" y="250785"/>
          <a:ext cx="11523844" cy="64516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8886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59461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443812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804971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715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Registrar-se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715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715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6448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Permet a un Usuari no registrat crear un compte nou a la plataforma </a:t>
                      </a:r>
                      <a:r>
                        <a:rPr lang="ca-ES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QueMenges,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utilitzant compte de correu o les credencials d'un proveïdor d'identitat extern (Gmail o Outlook). Durant aquest procés, és obligatori definir el rol que tindrà l'usuari dins del sistema.</a:t>
                      </a:r>
                      <a:endParaRPr lang="es-ES" sz="1100" b="0" i="0" u="none" strike="noStrike" noProof="0">
                        <a:solidFill>
                          <a:schemeClr val="tx1"/>
                        </a:solidFill>
                        <a:latin typeface="Neue Haas Grotesk Text Pro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715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Usuari no registrat i proveïdor d'identitat (Gmail o Outlook)</a:t>
                      </a:r>
                      <a:endParaRPr lang="es-ES">
                        <a:solidFill>
                          <a:schemeClr val="tx1"/>
                        </a:solidFill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715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L'usuari no ha de tenir sessió iniciada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2113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1. L'usuari accedeix a la pantalla de registre de l'aplicació.</a:t>
                      </a:r>
                      <a:endParaRPr lang="ca-ES" sz="1100" b="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2. L’usuari introdueix el seu correu electrònic, una contrasenya i nom d'usuari. </a:t>
                      </a:r>
                      <a:r>
                        <a:rPr lang="ca-ES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(Per a la via ràpida amb Gmail/Outlook, veure Subflux A1)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3. 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sistema valida les dades introduïdes (que el correu i el nom no existeixin, i que compleixin els requisits de format).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4. El sistema envia un correu electrònic de verificació a l'adreça indicada.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5. L'usuari obre el seu correu, clica a l'enllaç de verificació i el sistema valida l'alta del compte.</a:t>
                      </a:r>
                      <a:endParaRPr lang="ca-ES" sz="1100" b="0" i="0" u="none" strike="noStrike" noProof="0">
                        <a:solidFill>
                          <a:schemeClr val="tx1"/>
                        </a:solidFill>
                        <a:latin typeface="Neue Haas Grotesk Text Pro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6. 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[Include]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El sistema executa el cas d'ús </a:t>
                      </a:r>
                      <a:r>
                        <a:rPr lang="ca-ES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Indicar tipus de compte (rol)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on l'usuari defineix obligatòriament el rol.</a:t>
                      </a:r>
                      <a:endParaRPr lang="ca-ES" sz="1100" b="0" i="0" u="none" strike="noStrike" noProof="0">
                        <a:solidFill>
                          <a:schemeClr val="tx1"/>
                        </a:solidFill>
                        <a:latin typeface="Neue Haas Grotesk Text Pro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7. El procés finalitza, el sistema desa el compte i l'usuari accedeix a l'app amb la sessió iniciada.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 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A1. Pas 2: Registre mitjançant Proveïdor d'identitat (Gmail / Outlook):</a:t>
                      </a: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L'usuari decideix utilitzar les credencials de Google o Outlook.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El sistema connecta amb el Proveïdor d'identitat i l'usuari selecciona el seu compte.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El Proveïdor d'identitat valida les dades i les envia al sistema.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El sistema valida que el correu no existeixi a la base de dades.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       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sistema demana a l'usuari que introdueixi el nom d'usuari desitjat per a la plataforma.</a:t>
                      </a:r>
                      <a:endParaRPr lang="ca-ES" sz="1100" b="0" i="0" u="none" strike="noStrike" noProof="0">
                        <a:solidFill>
                          <a:schemeClr val="tx1"/>
                        </a:solidFill>
                        <a:effectLst/>
                        <a:latin typeface="Neue Haas Grotesk Text Pro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       El sistema valida que el nom d'usuari introduït sigui vàlid.</a:t>
                      </a:r>
                      <a:endParaRPr lang="ca-ES" b="0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El flux salta directament al pas 6 del flux principal (elecció de rol), ometent la verificació per correu (ja que Gmail/Outlook ja l'han verificat).</a:t>
                      </a:r>
                      <a:endParaRPr lang="ca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  <a:p>
                      <a:pPr lvl="0" algn="just"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4364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u="sng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Correu electronic ja registrat</a:t>
                      </a: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Al pas 3 o al subflux A1, si el sistema detecta que el correu ja té un compte associat, mostra un avís i suggereix anar a "Iniciar Sessió". El procés de registre s'atura.</a:t>
                      </a:r>
                      <a:endParaRPr lang="ca-ES" sz="1100" b="0" i="0" u="none" strike="noStrike" noProof="0">
                        <a:solidFill>
                          <a:schemeClr val="tx1"/>
                        </a:solidFill>
                        <a:latin typeface="Neue Haas Grotesk Text Pro"/>
                        <a:cs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     </a:t>
                      </a:r>
                      <a:r>
                        <a:rPr lang="ca-ES" sz="1100" b="0" i="0" u="sng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Nom no compleix les restriccions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Al pas 3 o al subflux A1, si el nom d'usuari ja està registrat o no té 5 o més caràcters, es mostra un avís de "Nom ja registrat" o "Com a mínim 5 caràcters" i espera a que es canvií el nom.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      </a:t>
                      </a:r>
                      <a:r>
                        <a:rPr lang="ca-ES" sz="1100" b="0" i="0" u="sng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Contrasenya no compleix les restriccions</a:t>
                      </a:r>
                    </a:p>
                    <a:p>
                      <a:pPr lvl="0" algn="just"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Al pas 3, si la contrasenya no té com a mínim 8 caracters i/o no té ni dues majuscules ni dos caràcters especials, es mostrarà un avís de "Com a mínim 8 caracters" i/o "Com a mínim 2 majúscules" i/o "Com a mínim 2 caràcters especials".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358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El sistema ha creat un compte d'usuari nou associat a un correu electrònic i la sessió ha quedat iniciada. </a:t>
                      </a:r>
                      <a:endParaRPr lang="es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34304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RNF-1-01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715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Normal</a:t>
                      </a: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715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072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5903-7247-9D63-4DC8-BE4EB6A5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1C5FD3-641B-FC21-F8A3-07C4079B3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32</a:t>
            </a:fld>
            <a:endParaRPr lang="en-US"/>
          </a:p>
        </p:txBody>
      </p:sp>
      <p:pic>
        <p:nvPicPr>
          <p:cNvPr id="3" name="Imatge 2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7902F4F5-76C0-5295-1D3F-03417556E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2" r="176" b="1076"/>
          <a:stretch>
            <a:fillRect/>
          </a:stretch>
        </p:blipFill>
        <p:spPr>
          <a:xfrm>
            <a:off x="3129643" y="0"/>
            <a:ext cx="6016236" cy="68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30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5C55-9812-E5DD-0545-237B7AC4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818CB-0570-0850-083C-325C4490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13C979-F7F7-B789-DF7A-5F2E6765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A968E35-43C3-E042-592A-583C4040673A}"/>
              </a:ext>
            </a:extLst>
          </p:cNvPr>
          <p:cNvGraphicFramePr>
            <a:graphicFrameLocks noGrp="1"/>
          </p:cNvGraphicFramePr>
          <p:nvPr/>
        </p:nvGraphicFramePr>
        <p:xfrm>
          <a:off x="731345" y="1749680"/>
          <a:ext cx="10939282" cy="497941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61476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5644548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70573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6268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Iniciar sessió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305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Permet a un Usuari no registrat autenticar-se al sistema per accedir al seu perfil (com a Comprador, Cuiner o Repartidor), utilitzant el seu correu i contrasenya o mitjançant les credencials d'un proveïdor d'identitat extern (Gmail o Outlook). </a:t>
                      </a:r>
                      <a:endParaRPr lang="es-ES">
                        <a:solidFill>
                          <a:srgbClr val="1F1F1F"/>
                        </a:solidFill>
                        <a:latin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Usuari no registrat i proveïdor d’identitat (Gmail o Outlook)</a:t>
                      </a:r>
                      <a:endParaRPr lang="es-ES" b="0" i="0" u="none" strike="noStrike" noProof="0">
                        <a:solidFill>
                          <a:srgbClr val="1F1F1F"/>
                        </a:solidFill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L'usuari ha de tenir un compte creat prèviament i no ha de tenir cap sessió activa en aquell moment. 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0954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1. L'usuari accedeix a la pantalla d'inici de sessió de l'aplicació.</a:t>
                      </a:r>
                      <a:endParaRPr lang="ca-ES" sz="1100" b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2. L’usuari introdueix el seu correu electrònic i la seva contrasenya. (Per a la via ràpida amb Gmail/Outlook, veure Subflux A1).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3. L'usuari clica el botó d'entrar.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4. El sistema cerca el correu a la base de dades i valida que la contrasenya coincideixi.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5. El sistema identifica el compte associat al correu.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6. El procés finalitza, la sessió queda activa i el sistema redirigeix l'usuari a la pantalla principal.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95383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 </a:t>
                      </a: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A1. Inici de sessió mitjançant Proveïdor d'identitat (Gmail / Outlook):</a:t>
                      </a:r>
                      <a:endParaRPr lang="ca-ES" sz="11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Al pas 2, l'usuari decideix entrar utilitzant el botó de Google o Outlook.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sistema connecta amb el Proveïdor d'identitat i demana l'autorització de l'usuari.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Proveïdor d'identitat valida les credencials i confirma la identitat al sistema.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flux salta directament al pas 4 del flux principal (validant que aquest correu existeix a la base de dades de 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QueMenges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).</a:t>
                      </a:r>
                      <a:endParaRPr lang="ca-ES">
                        <a:solidFill>
                          <a:srgbClr val="1F1F1F"/>
                        </a:solidFill>
                        <a:latin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86883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   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Credencials incorrectes (Via manual):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correu no existeix o la contrasenya és incorrecta, el sistema mostra un avís d'"Usuari o contrasenya incorrectes" i demana que es torni a intentar. 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   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Correu no registrat (Via Proveïdor d'identitat):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Si el sistema rep l'OK del Proveïdor d'identitat però no troba el correu a la base de dades de 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QueMenges,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el sistema mostra un avís de "Compte no registrada" i s'atura el procés.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72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  <a:cs typeface="Arial"/>
                        </a:rPr>
                        <a:t>L'usuari ha passat a l'estat d'Usuari registrat amb el seu rol específic carregat. 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  <a:cs typeface="Arial"/>
                        </a:rPr>
                        <a:t> </a:t>
                      </a:r>
                      <a:endParaRPr lang="es-ES" sz="1100" b="0">
                        <a:solidFill>
                          <a:schemeClr val="tx1"/>
                        </a:solidFill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31164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Normal</a:t>
                      </a: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8999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226DF-83B0-64FB-3FCD-40AF421B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4A2E2F-E4E8-5C8B-AFA7-EEF6F843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34</a:t>
            </a:fld>
            <a:endParaRPr lang="en-US"/>
          </a:p>
        </p:txBody>
      </p:sp>
      <p:pic>
        <p:nvPicPr>
          <p:cNvPr id="2" name="Imatge 1">
            <a:extLst>
              <a:ext uri="{FF2B5EF4-FFF2-40B4-BE49-F238E27FC236}">
                <a16:creationId xmlns:a16="http://schemas.microsoft.com/office/drawing/2014/main" id="{95430862-F166-A5A3-4F65-CAA8BA0E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72" y="0"/>
            <a:ext cx="8942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24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1736D-8516-5EAD-2E4E-D4B6653C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89A9C9-6248-80E5-C1B6-FCA03278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17EFB73-6441-F548-91A9-CDD09DD66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206542"/>
              </p:ext>
            </p:extLst>
          </p:nvPr>
        </p:nvGraphicFramePr>
        <p:xfrm>
          <a:off x="462987" y="96455"/>
          <a:ext cx="11252426" cy="6642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7586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5806129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409805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738906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6485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Editar perfil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465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465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396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Permet a un Usuari registrat modificar la informació del seu perfil personal (nom, correu, contrasenya, foto, etc.). Inclou la gestió de la ubicació principal (per al càlcul de distàncies) i la indicació de restriccions alimentàries o al·lèrgies. Des d'aquesta pantalla també es pot accedir a l'eliminació del compte.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465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Usuari registrat i Google Maps</a:t>
                      </a:r>
                      <a:endParaRPr lang="es-ES" b="0" i="0" u="none" strike="noStrike" noProof="0">
                        <a:solidFill>
                          <a:srgbClr val="1F1F1F"/>
                        </a:solidFill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465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L’usuari ha de estar dins del sistema amb la sessió iniciada correctament.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4655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1. L'usuari accedeix a la secció de "Perfil" des del menú de l'aplicació.</a:t>
                      </a:r>
                      <a:endParaRPr lang="ca-ES" sz="1100" b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2. El sistema mostra la informació actual de l'usuari en un formulari editable.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3. L'usuari modifica els camps desitjats: pot actualitzar les seves dades bàsiques, la seva ubicació (manualment o mitjançant GPS) i afegir o editar les seves restriccions alimentàries (com celiaquia, intolerància a la lactosa, dieta vegana, etc.).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4. L'usuari clica al botó de "Guardar canvis".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5. El sistema valida les dades introduïdes (que els camps obligatoris estiguin plens, que nom d'usuari no estigui duplicats, que es compleixin les restriccions de format i contrasenya, i que la ubicació sigui vàlida).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6. El sistema actualitza la informació a la base de dades i mostra un missatge de confirmació.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7. El procés finalitza i el sistema torna a mostrar el perfil actualitzat.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0442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 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A1. L’usuari vol eliminar el seu compte (</a:t>
                      </a:r>
                      <a:r>
                        <a:rPr lang="ca-ES" sz="1100" b="1" i="0" u="none" strike="noStrike" noProof="0" err="1">
                          <a:solidFill>
                            <a:schemeClr val="tx1"/>
                          </a:solidFill>
                          <a:effectLst/>
                        </a:rPr>
                        <a:t>Extend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):</a:t>
                      </a:r>
                      <a:endParaRPr lang="ca-ES" sz="1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Al pas 2 o 3, l'usuari decideix que vol donar-se de baixa i clica el botó "Eliminar compte".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[</a:t>
                      </a:r>
                      <a:r>
                        <a:rPr lang="ca-ES" sz="1100" b="1" i="0" u="none" strike="noStrike" noProof="0" err="1">
                          <a:solidFill>
                            <a:schemeClr val="tx1"/>
                          </a:solidFill>
                          <a:effectLst/>
                        </a:rPr>
                        <a:t>Extend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]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 El sistema activa el cas d'ús </a:t>
                      </a:r>
                      <a:r>
                        <a:rPr lang="ca-ES" sz="1100" b="0" i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Eliminar compte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ca-ES">
                        <a:solidFill>
                          <a:schemeClr val="tx1"/>
                        </a:solidFill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A2. Cancel·lar l'edició: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En qualsevol moment abans de clicar el botó de guardar (pas 4), l'usuari decideix sortir de la pantalla o prem el botó "Cancel·lar".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sistema tanca el formulari i torna a la pantalla anterior sense realitzar cap canvi a la base de dades.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4930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     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</a:rPr>
                        <a:t>Nom d'usuari ja registrat: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Al pas 5, si l'usuari ha modificat el nom d'usuari i el sistema detecta que ja està associat a un altre compte actiu o no compleix els requisits mínims, mostra l'avís "Nom d'usuari ja registrat" o "Mínim 5 caràcters" i es queda a l'espera que es corregeixi.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     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</a:rPr>
                        <a:t>La nova contrasenya no compleix les restriccions: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Si l'usuari ha intentat canviar la seva contrasenya però aquesta no compleix els requisits mínims de seguretat (mínim 8 caràcters, 2 majúscules i 2 caràcters especials), es mostraran els avisos corresponents de restricció i s'espera que es modifiqui.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     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</a:rPr>
                        <a:t>Error de geolocalització o dades d'ubicació no vàlides:</a:t>
                      </a:r>
                      <a:endParaRPr lang="ca-ES" b="0" i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Si el sistema no pot obtenir les coordenades GPS o la ubicació introduïda manualment no es troba al mapa, es mostra un avís d'error de geolocalització i es demana a l'usuari que revisi la informació.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465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perfil de l'usuari s'ha actualitzat a la base de dades, incloent-hi la seva ubicació i preferències alimentàries per a futures consultes de la plataforma.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9311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RNF-1-01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465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Normal</a:t>
                      </a: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465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980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AF35-3ADF-7654-A111-C1A34528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66AD4F-5902-7877-2D19-0795CE69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36</a:t>
            </a:fld>
            <a:endParaRPr lang="en-US"/>
          </a:p>
        </p:txBody>
      </p:sp>
      <p:pic>
        <p:nvPicPr>
          <p:cNvPr id="2" name="Imatge 1" descr="Imatge que conté text, diagrama, captura de pantalla, Paral·lel&#10;&#10;Pot ser que el contingut generat per IA no sigui correcte.">
            <a:extLst>
              <a:ext uri="{FF2B5EF4-FFF2-40B4-BE49-F238E27FC236}">
                <a16:creationId xmlns:a16="http://schemas.microsoft.com/office/drawing/2014/main" id="{8C1E94D1-CF15-10DC-8EB3-D959ECB9D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4" b="1905"/>
          <a:stretch>
            <a:fillRect/>
          </a:stretch>
        </p:blipFill>
        <p:spPr>
          <a:xfrm>
            <a:off x="1191020" y="0"/>
            <a:ext cx="9610673" cy="685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931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043C-D756-A261-AA1E-CD20224C3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36323-CB9E-82D2-5EE5-A76E0935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5334BF-7736-7435-00A9-D3E6443B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5725D21-F726-919F-D2F6-94681CB8096E}"/>
              </a:ext>
            </a:extLst>
          </p:cNvPr>
          <p:cNvGraphicFramePr>
            <a:graphicFrameLocks noGrp="1"/>
          </p:cNvGraphicFramePr>
          <p:nvPr/>
        </p:nvGraphicFramePr>
        <p:xfrm>
          <a:off x="731345" y="1603543"/>
          <a:ext cx="10939282" cy="4948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61476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5644548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70573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6268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Eliminar compte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305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Permet a un Usuari registrat donar-se de baixa definitivament de la plataforma QueMenges. Aquest procés comporta la pèrdua de l'historial de comandes, dades personals i la cancel·lació immediata de qualsevol servei actiu (com la subscripció mensual).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Usuari registrat </a:t>
                      </a:r>
                      <a:endParaRPr lang="es-ES" b="0" i="0" u="none" strike="noStrike" noProof="0">
                        <a:solidFill>
                          <a:srgbClr val="1F1F1F"/>
                        </a:solidFill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L’usuari ha d'haver accedit a la pantalla d'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Editar perfil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amb la seva sessió iniciada correctament.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6701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1. El cas d'ús s'activa quan l'usuari, des de la pantalla d'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Editar perfil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, clica el botó "Eliminar compte".</a:t>
                      </a:r>
                      <a:endParaRPr lang="ca-ES" sz="1100" b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2. El sistema mostra una pantalla emergent d'advertència informant de les conseqüències irreversibles d'eliminar el compte (pèrdua de dades, historial i subscripcions).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3. L'usuari confirma que vol continuar i, per motius de seguretat, introdueix la seva contrasenya actual.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4. El sistema valida que la contrasenya introduïda sigui la correcta per a aquest compte.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5. El sistema cancel·la de forma immediata la subscripció mensual (en cas que l'usuari en tingui una d'activa amb la passarel·la de pagament).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6. El sistema elimina el registre de l'usuari a la base de dades i tanca la sessió automàticament.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7. El sistema mostra un missatge de confirmació final ("Compte eliminat correctament") i redirigeix l'usuari a la pantalla de benvinguda de l'aplicació com a 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Usuari no registrat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63673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 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A1. Cancel·lar el procés d'eliminació:</a:t>
                      </a:r>
                      <a:endParaRPr lang="ca-ES" sz="11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Al pas 2 o 3, l'usuari s'ho pensa millor i clica el botó "Cancel·lar" o tanca l'advertència.</a:t>
                      </a:r>
                      <a:endParaRPr lang="ca-ES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sistema atura el procés de baixa sense fer cap modificació i retorna l'usuari a la pantalla d'</a:t>
                      </a:r>
                      <a:r>
                        <a:rPr lang="ca-ES" sz="1100" b="0" i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Editar perfil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ca-ES">
                        <a:solidFill>
                          <a:schemeClr val="tx1"/>
                        </a:solidFill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741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    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</a:rPr>
                        <a:t>Contrasenya de seguretat incorrecta: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Al pas 3, si la contrasenya introduïda per l'usuari no coincideix amb la de la base de dades, el sistema mostra un missatge d'error ("Contrasenya incorrecta. Torna-ho a intentar") i bloqueja l'eliminació, mantenint la pantalla oberta perquè l'usuari la corregeixi o cancel·li.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72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compte de l'usuari s'ha esborrat de la base de dades i l'usuari torna a l'estat d'</a:t>
                      </a:r>
                      <a:r>
                        <a:rPr lang="ca-ES" sz="1100" b="0" i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Usuari no registrat</a:t>
                      </a: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s-ES">
                        <a:solidFill>
                          <a:schemeClr val="tx1"/>
                        </a:solidFill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33402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Normal</a:t>
                      </a: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8345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A082-637E-AE8C-18ED-CC0DCA3B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AD1597-4322-960F-F6E5-8BE54755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38</a:t>
            </a:fld>
            <a:endParaRPr lang="en-US"/>
          </a:p>
        </p:txBody>
      </p:sp>
      <p:pic>
        <p:nvPicPr>
          <p:cNvPr id="3" name="Imatge 2" descr="Imatge que conté text, captura de pantalla, Font, Paral·lel&#10;&#10;Pot ser que el contingut generat per IA no sigui correcte.">
            <a:extLst>
              <a:ext uri="{FF2B5EF4-FFF2-40B4-BE49-F238E27FC236}">
                <a16:creationId xmlns:a16="http://schemas.microsoft.com/office/drawing/2014/main" id="{E8812A5E-D68B-8980-2D6A-E5C44071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34" b="1622"/>
          <a:stretch>
            <a:fillRect/>
          </a:stretch>
        </p:blipFill>
        <p:spPr>
          <a:xfrm>
            <a:off x="1389686" y="0"/>
            <a:ext cx="9550054" cy="685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37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D562-EE3B-423A-70C4-CF0D8F28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B02E2-01D0-CA46-C788-988CE99C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48D6E1-F70B-2AC2-9B4E-350E6D36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DF12013-87D6-F68E-576E-8A4C6F571D5B}"/>
              </a:ext>
            </a:extLst>
          </p:cNvPr>
          <p:cNvGraphicFramePr>
            <a:graphicFrameLocks noGrp="1"/>
          </p:cNvGraphicFramePr>
          <p:nvPr/>
        </p:nvGraphicFramePr>
        <p:xfrm>
          <a:off x="731345" y="1885379"/>
          <a:ext cx="10939277" cy="455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77232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4828789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70571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6268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Canviar idioma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305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Permet a l'usuari (tant si té un compte com si no) canviar l'idioma de la interfície de la plataforma QueMenges en qualsevol moment per adaptar-la a les seves preferències.</a:t>
                      </a:r>
                      <a:endParaRPr lang="es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Usuari no registrat (i per herència, qualsevol usuari registrat).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L'aplicació s'ha d'estar executant correctament i mostrar el selector d'idioma a la pantalla actual (botó adalt a la dreta).</a:t>
                      </a:r>
                      <a:endParaRPr lang="es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6701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1.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L'usuari clica sobre el selector d'idioma (representat el nom de l'idioma actual) a la interfície (adalt a la dreta).</a:t>
                      </a:r>
                      <a:endParaRPr lang="ca-ES" sz="1100" b="0">
                        <a:solidFill>
                          <a:srgbClr val="1F1F1F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2. El sistema mostra un menú desplegable amb la llista d'idiomes disponibles de la plataforma (Català, Castellà, Anglès).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3. L'usuari selecciona l'idioma al qual vol traduir l'aplicació.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4. El sistema valida la selecció, carrega el fitxer de traducció corresponent i tradueix instantàniament tots els textos de la pantalla actual.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5. El sistema desa la preferència d'idioma.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6. El procés finalitza i l'usuari pot continuar navegant per l'aplicació en el nou idioma escollit.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63673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 </a:t>
                      </a: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A1. Cancel·lar el canvi d'idioma:</a:t>
                      </a:r>
                      <a:endParaRPr lang="ca-ES" sz="11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Al pas 2, si l'usuari obre el menú desplegable però finalment clica a fora o tanca el menú sense seleccionar cap idioma nou.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sistema tanca el selector i manté la interfície en l'idioma actual sense realitzar cap modificació.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    </a:t>
                      </a:r>
                      <a:endParaRPr lang="ca-ES" sz="1100" b="0" i="0" u="sng" strike="noStrike" noProof="0">
                        <a:solidFill>
                          <a:srgbClr val="1F1F1F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72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La interfície gràfica de l'aplicació passa a mostrar-se completament en l'idioma seleccionat per l'usuari i la preferència queda emmagatzemada.</a:t>
                      </a:r>
                      <a:endParaRPr lang="es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9832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RNF-AC-01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Baixa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114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6520-F4DB-C01E-028D-D3DBA90E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E4FC0C-894F-07DC-DA8D-C4EDD438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40</a:t>
            </a:fld>
            <a:endParaRPr lang="en-US"/>
          </a:p>
        </p:txBody>
      </p:sp>
      <p:pic>
        <p:nvPicPr>
          <p:cNvPr id="2" name="Imatge 1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4B5A0881-BB03-5031-C212-63AB3EBF7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39" y="505216"/>
            <a:ext cx="8767215" cy="584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161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D174B-9A89-3052-7FAB-22D2187FF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3DBF4-AE26-A2F4-4797-9CFB234D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060C65-9501-52A1-D6B0-0F26CE70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BDCF79F-9385-E06C-5A6B-193ACEFE40BC}"/>
              </a:ext>
            </a:extLst>
          </p:cNvPr>
          <p:cNvGraphicFramePr>
            <a:graphicFrameLocks noGrp="1"/>
          </p:cNvGraphicFramePr>
          <p:nvPr/>
        </p:nvGraphicFramePr>
        <p:xfrm>
          <a:off x="626961" y="2104584"/>
          <a:ext cx="10939280" cy="443701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136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5444654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70572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6268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Indicar tipus de compte (rol)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305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Permet a l'usuari, durant el procés d'alta, seleccionar de manera obligatòria el perfil o rol que tindrà dins de la plataforma QueMenges (Comprador, Cuiner o Repartidor) per tal de definir la interfície i les funcionalitats a les quals tindrà accés.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Usuari no registrat (en procés de registre).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cas d'ús ha d'haver estat invocat com a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Consolas"/>
                        </a:rPr>
                        <a:t>&lt;&lt;include&gt;&gt;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des del cas d'ús 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Registrar-se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, un cop les dades bàsiques (correu/contrasenya) o les del proveïdor d'identitat (Gmail/Outlook) han estat validades pel sistema.</a:t>
                      </a:r>
                      <a:endParaRPr lang="es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3361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1. </a:t>
                      </a: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[Include]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cas d'ús s'inicia automàticament quan el sistema l'invoca des del cas d'ús 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Registrar-se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.</a:t>
                      </a:r>
                      <a:endParaRPr lang="ca-ES" sz="1100" b="0">
                        <a:solidFill>
                          <a:srgbClr val="1F1F1F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2. El sistema mostra la pantalla de selecció de perfil amb les tres opcions disponibles: Comprador, Cuiner i Repartidor.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3. L'usuari selecciona una de les tres opcions mitjançant la interfície gràfica.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4. L'usuari clica al botó de "Confirmar i finalitzar".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5. El sistema valida que s'hagi seleccionat correctament un dels rols disponibles.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6. El sistema assigna el rol escollit al nou compte que s'està creant.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7. El cas d'ús finalitza i el sistema retorna el control al flux de </a:t>
                      </a:r>
                      <a:r>
                        <a:rPr lang="ca-ES" sz="1100" b="0" i="1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Registrar-se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per desar el compte definitivament a la base de dades.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69936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     </a:t>
                      </a:r>
                      <a:r>
                        <a:rPr lang="ca-ES" sz="1100" b="0" i="0" u="sng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Cap rol seleccionat:</a:t>
                      </a:r>
                      <a:endParaRPr lang="ca-ES" b="0" u="sng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2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Si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l'usuari intenta prémer el botó de confirmar sense haver marcat cap de les tres opcions de perfil, el sistema mostra un avís d'error a la pantalla ("Selecció obligatòria: si us plau, tria un perfil per continuar") i bloqueja l'avenç, quedant-se a l'espera que l'usuari en seleccioni un de vàlid.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72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S'ha vinculat un rol específic (Comprador, Cuiner o Repartidor) al nou perfil d'usuari abans de completar el registre general de la plataforma.</a:t>
                      </a:r>
                      <a:endParaRPr lang="es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33402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7194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639F-1BD6-2F40-6138-29EF02CF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4FAE7F-7863-E96E-8439-4B22891E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42</a:t>
            </a:fld>
            <a:endParaRPr lang="en-US"/>
          </a:p>
        </p:txBody>
      </p:sp>
      <p:pic>
        <p:nvPicPr>
          <p:cNvPr id="3" name="Imatge 2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B1A06FD6-D3E1-C68E-B1D7-CA516EEB3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55" y="1088323"/>
            <a:ext cx="8552244" cy="468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475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34351-1C5F-BE13-61AA-8FF6C99B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1EB6F-EBAB-8823-EAC4-388A9A06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8DCB94-11D4-5159-6D55-0E6156B7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909F8C5-0D07-BD72-7676-A6078B58ED27}"/>
              </a:ext>
            </a:extLst>
          </p:cNvPr>
          <p:cNvGraphicFramePr>
            <a:graphicFrameLocks noGrp="1"/>
          </p:cNvGraphicFramePr>
          <p:nvPr/>
        </p:nvGraphicFramePr>
        <p:xfrm>
          <a:off x="626961" y="2094147"/>
          <a:ext cx="10939278" cy="424056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4602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4891420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370571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66268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>
                          <a:effectLst/>
                        </a:rPr>
                        <a:t>Gestionar rols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Pau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305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Permet a un Usuari registrat modificar, afegir o canviar el seu rol actiu dins de la plataforma QueMenges (per exemple, un Comprador que vol activar el perfil de Cuiner o Repartidor). Aquest procés permet alternar entre les diferents interfícies i funcionalitats de l'aplicació sense necessitat de tancar la sessió o crear un compte nou.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Usuari registrat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L'usuari ha d'haver iniciat sessió correctament al sistema i estar amb una sessió activa.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3361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1. L'usuari accedeix a la secció "Gestionar rols" des de la pantalla principal de l'aplicació.</a:t>
                      </a:r>
                      <a:endParaRPr lang="ca-ES" sz="1100" b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2. El sistema mostra el rol actiu actual de l'usuari i els rols alternatius disponibles (Comprador, Cuiner, Repartidor).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3. L'usuari selecciona el nou rol que desitja activar o afegir al seu compte.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4. L'usuari clica al botó de "Confirmar canvi de rol".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5. El sistema actualitza el rol actiu a la base de dades i a la sessió actual.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 6. El procés finalitza, el sistema mostra un missatge de confirmació i recarrega la interfície per mostrar el menú i les funcionalitats corresponents al nou rol escollit.</a:t>
                      </a:r>
                      <a:endParaRPr lang="ca-ES"/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A1. Cancel·lar el canvi de rol:</a:t>
                      </a:r>
                      <a:endParaRPr lang="es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En qualsevol moment abans del pas 4, l'usuari decideix no fer el canvi i surt de la pantalla o clica "Cancel·lar".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sistema atura el procés i manté a l'usuari amb el seu rol i interfície actuals sense fer cap canvi a la base de dades.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      </a:t>
                      </a:r>
                      <a:endParaRPr lang="ca-ES" sz="1100" b="0" i="0" u="sng" strike="noStrike" noProof="0">
                        <a:solidFill>
                          <a:srgbClr val="1F1F1F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72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El sistema ha actualitzat el rol actiu de l'usuari a la sessió i ha adaptat tota la interfície gràfica a les necessitats i permisos del nou perfil.</a:t>
                      </a:r>
                      <a:endParaRPr lang="es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670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>
                        <a:solidFill>
                          <a:schemeClr val="tx1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solidFill>
                            <a:schemeClr val="tx1"/>
                          </a:solidFill>
                          <a:effectLst/>
                          <a:latin typeface="Neue Haas Grotesk Text Pro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5110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479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DE85-912F-D6E8-A4DE-F5F15919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443C72-1BB2-0FED-E398-B9A40D24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44</a:t>
            </a:fld>
            <a:endParaRPr lang="en-US"/>
          </a:p>
        </p:txBody>
      </p:sp>
      <p:pic>
        <p:nvPicPr>
          <p:cNvPr id="2" name="Imatge 1" descr="Imatge que conté text, diagrama, captura de pantalla, Font&#10;&#10;Pot ser que el contingut generat per IA no sigui correcte.">
            <a:extLst>
              <a:ext uri="{FF2B5EF4-FFF2-40B4-BE49-F238E27FC236}">
                <a16:creationId xmlns:a16="http://schemas.microsoft.com/office/drawing/2014/main" id="{167C5098-48DE-A1B2-2F1C-E5F6E209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0" y="185134"/>
            <a:ext cx="8365120" cy="648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82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6FA4-4FE0-2293-4427-8FBC0412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C3124-1C05-4BCC-2D48-28160CCD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78BF50-5DBB-6335-4006-35C21010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EE362D46-3AA1-AE93-D3D5-42EFEA78DAEF}"/>
              </a:ext>
            </a:extLst>
          </p:cNvPr>
          <p:cNvGraphicFramePr>
            <a:graphicFrameLocks noGrp="1"/>
          </p:cNvGraphicFramePr>
          <p:nvPr/>
        </p:nvGraphicFramePr>
        <p:xfrm>
          <a:off x="1116969" y="799863"/>
          <a:ext cx="9985528" cy="5723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 D’ÚS:</a:t>
                      </a: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1" kern="1200" noProof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Acceptar repartiment</a:t>
                      </a:r>
                      <a:endParaRPr lang="ca-ES" sz="11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14/05/2025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Guillem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selecciona una comanda específica de la llista de comandes pendents i se l'assigna per realitzar l'entrega. Un cop acceptada, la comanda queda reservada exclusivament per a ell i desapareix de la vista dels altres repartidors.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Repartidor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ha d'estar autenticat, en estat "Disponible" i estar consultant la llista de comandes pendents.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00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selecciona una comanda de la llista per veure'n els detalls (origen, destí i guany).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prem el botó "Acceptar Repartiment".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valida en temps real que la comanda segueixi en estat "Pendent" i no hagi estat assignada a un altre repartidor.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assigna la comanda al repartidor, canvia el seu estat a "Assignada" i la retira de la llista global de comandes pendents.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notifica al cuiner que un repartidor ha acceptat l'entrega.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redirigeix el repartidor a la pantalla de navegació amb les instruccions per anar a recollir la comanda a la cuina d'origen.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</a:rPr>
                        <a:t>A1. Confirmació prèvia a l'acceptació: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</a:rPr>
                        <a:t>Al pas 2, abans de confirmar, el sistema mostra un resum de la comanda (adreça de recollida, adreça d'entrega i guany) demanant confirmació.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</a:rPr>
                        <a:t>El repartidor pot confirmar o cancel·lar l'acció.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92093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</a:rPr>
                        <a:t>Comanda ja assignada: Si entre el pas 2 i el pas 3 un altre repartidor ha acceptat la mateixa comanda, el sistema mostra el missatge "Aquesta comanda ja no està disponible" i actualitza automàticament la llista per reflectir l'estat actual.</a:t>
                      </a:r>
                      <a:endParaRPr lang="ca-E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</a:rPr>
                        <a:t>Repartidor no disponible: Si el repartidor ha canviat l'estat a "No disponible" durant la sessió, el sistema no permet acceptar cap comanda i mostra l'avís "Has d'estar en estat Disponible per acceptar repartiments".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La comanda canvia a l'estat "Assignada a repartidor" i el repartidor rep les instruccions de recollida. El cuiner és notificat.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0551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7CDF-0CE3-1A6E-1E70-53FE7FA1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78355-2173-C551-A042-13A9E19D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50678D-6C6F-7A7F-295E-5E7C3375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46</a:t>
            </a:fld>
            <a:endParaRPr lang="en-US"/>
          </a:p>
        </p:txBody>
      </p:sp>
      <p:pic>
        <p:nvPicPr>
          <p:cNvPr id="3" name="Imatge 2" descr="Imatge que conté text, captura de pantalla, diagrama, Paral·lel&#10;&#10;Pot ser que el contingut generat per IA no sigui correcte.">
            <a:extLst>
              <a:ext uri="{FF2B5EF4-FFF2-40B4-BE49-F238E27FC236}">
                <a16:creationId xmlns:a16="http://schemas.microsoft.com/office/drawing/2014/main" id="{C43CE8BE-4CA5-6B2E-B07A-460F703EB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95" y="0"/>
            <a:ext cx="8090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7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8177-3185-6BEE-586E-D2A38B4A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B286-99D4-BF7B-460E-A6621070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B83F93-0E69-6976-ABDA-49BE164B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7F2D0F6B-97F4-51B2-2190-31A09F9AEA7A}"/>
              </a:ext>
            </a:extLst>
          </p:cNvPr>
          <p:cNvGraphicFramePr>
            <a:graphicFrameLocks noGrp="1"/>
          </p:cNvGraphicFramePr>
          <p:nvPr/>
        </p:nvGraphicFramePr>
        <p:xfrm>
          <a:off x="1102770" y="757267"/>
          <a:ext cx="9985528" cy="55849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 D’ÚS:</a:t>
                      </a: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1" i="0" u="none" strike="noStrike" kern="1200" noProof="0">
                          <a:solidFill>
                            <a:schemeClr val="lt1"/>
                          </a:solidFill>
                          <a:effectLst/>
                        </a:rPr>
                        <a:t>Consultar ruta de lliurament</a:t>
                      </a:r>
                      <a:endParaRPr lang="ca-ES" b="1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Guillem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repartidor consulta el mapa amb el camí òptim des de la cuina fins a l'adreça del client. El sistema utilitza Google Maps per calcular la ruta més eficient en funció del trànsit en temps real.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Repartidor i Google Maps (Sistema Extern)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repartidor ha d'haver acceptat una comanda i tenir la ubicació activa al dispositiu.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00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repartidor prem "Veure ruta" dins dels detalls de la comanda assignada.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obté la ubicació actual del repartidor via GPS.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es connecta amb Google Maps per calcular la ruta òptima entre el punt de recollida (cuina) i el punt d'entrega (adreça del client).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obre la interfície de mapa integrada mostrant: la posició actual del repartidor, el punt de recollida, el punt d'entrega, la línia de navegació i el temps estimat d'arribada a cada punt.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repartidor segueix les indicacions fins arribar primer a la cuina a recollir la comanda i després al destí final.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A1. Error de GPS o senyal feble:</a:t>
                      </a:r>
                      <a:endParaRPr lang="ca-ES" b="0"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1" i="0" u="none" strike="noStrike" noProof="0">
                          <a:effectLst/>
                        </a:rPr>
                        <a:t>[Es llança des del Pas 2]</a:t>
                      </a: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 si el senyal GPS és feble o no disponible, el sistema mostra l'adreça de recollida i d'entrega en format text per permetre la navegació manual.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El sistema continua intentant recuperar el senyal GPS i, quan ho aconsegueix, activa automàticament la navegació per mapa.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A2. Recàlcul de ruta per trànsit:</a:t>
                      </a:r>
                      <a:endParaRPr lang="ca-ES" b="0"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1" i="0" u="none" strike="noStrike" noProof="0">
                          <a:effectLst/>
                        </a:rPr>
                        <a:t>[Es llança durant el Pas 5]</a:t>
                      </a:r>
                      <a:r>
                        <a:rPr lang="ca-ES" sz="1100" b="0" i="0" u="none" strike="noStrike" noProof="0">
                          <a:effectLst/>
                        </a:rPr>
                        <a:t> </a:t>
                      </a: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Durant la navegació, si el sistema detecta trànsit o incidències, Google Maps recalcula automàticament la ruta òptima i actualitza les indicacions al repartidor.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6493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Google Maps no disponible: Si el sistema no pot connectar-se a l'API de Google Maps, es mostra l'avís "El servei de mapes no està disponible en aquest moment" i es mostren les adreces en format text com a alternativa.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522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035F-B377-7506-DA88-340FE0B40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7832B-DFAF-19CD-717B-3EE2D93B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F1A92-94F6-001E-808E-07EA8A34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48</a:t>
            </a:fld>
            <a:endParaRPr lang="en-US"/>
          </a:p>
        </p:txBody>
      </p:sp>
      <p:pic>
        <p:nvPicPr>
          <p:cNvPr id="3" name="Imatge 2">
            <a:extLst>
              <a:ext uri="{FF2B5EF4-FFF2-40B4-BE49-F238E27FC236}">
                <a16:creationId xmlns:a16="http://schemas.microsoft.com/office/drawing/2014/main" id="{D526FFB9-C8C0-E21B-4CE0-A9A0B6D2B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3" y="426729"/>
            <a:ext cx="9705975" cy="600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31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17E1-221D-2D8C-6ACE-16D39A45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011A2-4B4F-3A53-6D9F-362B2BFA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80CA9A-F39A-1A5D-7686-19BB010F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49</a:t>
            </a:fld>
            <a:endParaRPr lang="en-US"/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629C7B1B-3553-250A-214D-C306FCDB5841}"/>
              </a:ext>
            </a:extLst>
          </p:cNvPr>
          <p:cNvGraphicFramePr>
            <a:graphicFrameLocks noGrp="1"/>
          </p:cNvGraphicFramePr>
          <p:nvPr/>
        </p:nvGraphicFramePr>
        <p:xfrm>
          <a:off x="1102770" y="757267"/>
          <a:ext cx="9985528" cy="520477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 D’ÚS:</a:t>
                      </a: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1" i="0" u="none" strike="noStrike" kern="1200" noProof="0">
                          <a:solidFill>
                            <a:schemeClr val="lt1"/>
                          </a:solidFill>
                          <a:effectLst/>
                          <a:latin typeface="Neue Haas Grotesk Text Pro"/>
                        </a:rPr>
                        <a:t>Actualitzar estat comanda</a:t>
                      </a:r>
                      <a:endParaRPr lang="ca-ES" b="1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Guillem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Permet al repartidor informar al sistema, al cuiner i al comprador sobre el progrés real de la comanda, actualitzant l'estat en cada fase clau del lliurament.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Repartidor i Comprador.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La comanda ha d'estar en estat "Assignada a repartidor" i el repartidor ha d'estar autenticat.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00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prem "Comanda recollida" a l'aplicació.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canvia l'estat de la comanda a "En camí" i envia una notificació push al comprador informant-lo que el seu menjar està en camí.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es dirigeix a l'adreça d'entrega seguint la ruta.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arriba al destí i lliura el paquet al comprador.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repartidor prem "Finalitzar entrega".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canvia l'estat de la comanda a "Entregada", notifica al comprador i al cuiner, i torna el repartidor a l'estat "Disponible".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</a:rPr>
                        <a:t>A1. El client no hi és: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</a:rPr>
                        <a:t>Al pas 5, si el comprador no és a l'adreça d'entrega, el repartidor marca "Intent d'entrega fallit".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</a:rPr>
                        <a:t>El sistema obre automàticament el xat privat (CU-27) perquè el repartidor pugui contactar amb el comprador.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</a:rPr>
                        <a:t>El sistema posa la comanda en estat "Pendent de lliurament" fins que es resolgui la situació.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6493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</a:rPr>
                        <a:t>Repartidor incapaç de completar l'entrega: Si el repartidor no pot completar el lliurament per causa de força major, pot marcar "Cancel·lar entrega" i la comanda torna a l'estat "Pendent de repartidor" perquè un altre repartidor la pugui acceptar.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La comanda queda en estat "Entregada", el comprador i el cuiner han estat notificats, i el repartidor torna a estar disponible per acceptar noves comandes.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7511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827BE-E22C-F4ED-B73A-4855A49E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3430B-8701-72D4-12EC-ED50EBDE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FF5CFA-1814-3A51-2D95-7FF2B77D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50</a:t>
            </a:fld>
            <a:endParaRPr lang="en-US"/>
          </a:p>
        </p:txBody>
      </p:sp>
      <p:pic>
        <p:nvPicPr>
          <p:cNvPr id="3" name="Imatge 2" descr="Imatge que conté text, captura de pantalla, diagrama, línia&#10;&#10;Pot ser que el contingut generat per IA no sigui correcte.">
            <a:extLst>
              <a:ext uri="{FF2B5EF4-FFF2-40B4-BE49-F238E27FC236}">
                <a16:creationId xmlns:a16="http://schemas.microsoft.com/office/drawing/2014/main" id="{3909EE70-01D2-3563-01D3-09F8B46C0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20" y="0"/>
            <a:ext cx="660305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117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E5CD-C14B-5BA4-978E-D0FA39A3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FD07E-ECC3-D015-36DD-A90FE80C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12CC17-801D-99DF-0261-1FA9C389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3C36A165-A848-FCAC-6EE5-BFA7A26B519A}"/>
              </a:ext>
            </a:extLst>
          </p:cNvPr>
          <p:cNvGraphicFramePr>
            <a:graphicFrameLocks noGrp="1"/>
          </p:cNvGraphicFramePr>
          <p:nvPr/>
        </p:nvGraphicFramePr>
        <p:xfrm>
          <a:off x="1102770" y="757267"/>
          <a:ext cx="9985528" cy="537241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 D’ÚS:</a:t>
                      </a: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1" i="0" u="none" strike="noStrike" kern="1200" noProof="0">
                          <a:solidFill>
                            <a:schemeClr val="lt1"/>
                          </a:solidFill>
                          <a:effectLst/>
                        </a:rPr>
                        <a:t>Seguiment comanda</a:t>
                      </a:r>
                      <a:endParaRPr lang="ca-ES" b="1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Guillem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comprador pot visualitzar en temps real la posició del repartidor i el temps estimat d'arribada del seu menjar des del moment en què la comanda surt de la cuina.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Comprador i Google Maps (Sistema Extern).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La comanda ha d'estar en estat "En camí" (és a dir, el repartidor ha premut "Comanda recollida").</a:t>
                      </a: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00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comprador accedeix a "Les meves comandes" i selecciona la comanda activa.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comprova que la comanda es troba en estat "En camí".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es connecta amb Google Maps i obté la posició GPS actual del repartidor.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mostra un mapa amb la icona del repartidor movent-se en temps real, l'adreça d'entrega marcada i els minuts restants estimats per a l'entrega.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mapa s'actualitza automàticament mentre la comanda segueix en trànsit.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Quan la comanda canvia a l'estat "Entregada", el seguiment es tanca i es mostra el missatge de confirmació d'entrega.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A1. Retràs en el repartiment: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Si el sistema detecta trànsit o desviacions de ruta, Google Maps recalcula el temps estimat automàticament i actualitza la informació visible al comprador.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A2. Pèrdua de connexió del comprador: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Si el comprador perd la connexió i torna a entrar a l'app, el sistema mostra l'estat actualitzat de la comanda en aquell moment sense necessitat de recarregar manualment.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6493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Comanda no en estat "En camí": Si el comprador intenta accedir al seguiment però la comanda encara no ha estat recollida pel repartidor, el sistema mostra l'estat actual ("Pendent", "Cuinant-se", etc.) en lloc del mapa de seguiment.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comprador ha estat informat en tot moment de la ubicació del seu menjar i confirma la recepció de l'entrega.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294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864DE-04D0-6A51-469D-DA2C7385F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90372-E101-EAA5-4E97-65BCE293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2C753D-3229-0DB0-3311-05208E62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52</a:t>
            </a:fld>
            <a:endParaRPr lang="en-US"/>
          </a:p>
        </p:txBody>
      </p:sp>
      <p:pic>
        <p:nvPicPr>
          <p:cNvPr id="3" name="Imatge 2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DEF8912D-276C-6300-11F8-B56AF7D5C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95" y="0"/>
            <a:ext cx="103116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408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442D8-271A-3B5F-60D8-75AEEA113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10A34-0D96-9D58-0F63-F8781003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F6509-5CED-18C9-02C1-2B401690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53</a:t>
            </a:fld>
            <a:endParaRPr lang="en-US"/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BD6AE349-9B11-B1DA-D739-E76562260043}"/>
              </a:ext>
            </a:extLst>
          </p:cNvPr>
          <p:cNvGraphicFramePr>
            <a:graphicFrameLocks noGrp="1"/>
          </p:cNvGraphicFramePr>
          <p:nvPr/>
        </p:nvGraphicFramePr>
        <p:xfrm>
          <a:off x="1102770" y="757267"/>
          <a:ext cx="9985528" cy="58463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 D’ÚS:</a:t>
                      </a: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1" i="0" u="none" strike="noStrike" kern="1200" noProof="0">
                          <a:solidFill>
                            <a:schemeClr val="lt1"/>
                          </a:solidFill>
                          <a:effectLst/>
                          <a:latin typeface="Neue Haas Grotesk Text Pro"/>
                        </a:rPr>
                        <a:t>Comunicar-se per xat privat</a:t>
                      </a:r>
                      <a:endParaRPr lang="ca-ES" b="1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Guillem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Sistema de missatgeria interna entre el comprador i el cuiner per negociar i ajustar els detalls d'un plat proposat pel comprador i acceptat pel cuiner. El xat permet concretar modificacions, ingredients opcionals o qualsevol aspecte del plat abans que el cuiner el prepari.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Comprador i Cuiner.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cuiner ha d'haver acceptat una proposta de plat del comprador (RF-6-01) i ambdós han d'estar autenticats.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00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Un cop el cuiner accepta la proposta de plat, el sistema crea automàticament un canal de xat privat entre el comprador i el cuiner.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notifica al comprador que el cuiner ha acceptat la seva proposta i que ja pot accedir al xat.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L'actor que inicia la conversa (comprador o cuiner) accedeix als detalls de la proposta i selecciona la icona de xat.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obre la finestra de conversa mostrant l'historial de missatges previs si n'hi ha.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L'actor escriu i envia un missatge.</a:t>
                      </a:r>
                      <a:endParaRPr lang="ca-ES"/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envia una notificació push al receptor.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receptor llegeix el missatge i respon seguint els passos 5 i 6.</a:t>
                      </a:r>
                      <a:endParaRPr lang="ca-ES">
                        <a:latin typeface="Neue Haas Grotesk Text Pro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sistema guarda l'historial complet de la conversa associat a la proposta de plat.</a:t>
                      </a:r>
                      <a:endParaRPr lang="ca-ES">
                        <a:latin typeface="Neue Haas Grotesk Text Pro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A1. Receptor desconnectat: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Al pas 6, si el receptor no té l'app oberta, el missatge es desa com a "No llegit" i s'envia una notificació push al dispositiu.</a:t>
                      </a:r>
                      <a:endParaRPr lang="ca-E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Quan el receptor torna a entrar a l'app, el sistema el notifica dels missatges pendents de llegir.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6493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Plat ja entregat: Si la comanda associada al plat ja es troba en estat "Entregada", el sistema mostra la conversa en mode només lectura, sense possibilitat d'enviar nous missatges.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Cuiner rebutja la proposta: Si el cuiner decideix no acceptar la proposta de plat, el canal de xat no s'arriba a crear i el comprador rep una notificació informant-lo del rebuig.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El comprador i el cuiner han acordat els detalls del plat mitjançant el xat i l'historial queda guardat associat a la proposta.</a:t>
                      </a: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3467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58B8-5963-DF27-B7DE-8CFE7B81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E2306-2A7D-E9C5-8853-DD68CD5F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BC97E1-EF33-D24F-0556-E888110B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54</a:t>
            </a:fld>
            <a:endParaRPr lang="en-US"/>
          </a:p>
        </p:txBody>
      </p:sp>
      <p:pic>
        <p:nvPicPr>
          <p:cNvPr id="3" name="Imatge 2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BAD06069-4C83-CFC2-BC3E-A2FC327B9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80" y="316616"/>
            <a:ext cx="7133395" cy="62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443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92FE-DE5F-308B-471E-FBE56451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0CF03-94E5-9061-9125-F058BE34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A2BCC4-4B98-5C69-06D1-45F5502D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55</a:t>
            </a:fld>
            <a:endParaRPr lang="en-US"/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FD414DE4-76E5-EE48-2F16-E4B7E4D41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0692"/>
              </p:ext>
            </p:extLst>
          </p:nvPr>
        </p:nvGraphicFramePr>
        <p:xfrm>
          <a:off x="1102770" y="757267"/>
          <a:ext cx="9985528" cy="540016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8929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327498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251079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43053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 D’ÚS:</a:t>
                      </a: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1" i="0" u="none" strike="noStrike" kern="1200" noProof="0">
                          <a:solidFill>
                            <a:schemeClr val="lt1"/>
                          </a:solidFill>
                          <a:effectLst/>
                        </a:rPr>
                        <a:t>Acceptar comandes (Cuina)</a:t>
                      </a:r>
                      <a:endParaRPr lang="en-US" b="1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David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Opció de l’aplicació que permet al cuiner acceptar una determinada comanda feta per un comprador per així poder cuinar-la </a:t>
                      </a: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Cuiner 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Hi ha d'haver una comanda feta per un comprador a un cuiner que estigui disponible</a:t>
                      </a:r>
                      <a:endParaRPr lang="en-U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1. El cuiner accedeix a la aplicació a través d'una notificació de que té una comanda nova per ser accepta </a:t>
                      </a:r>
                      <a:endParaRPr lang="en-U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2. El cuiner selecciona l'apartat anomenat "menú de comandes" </a:t>
                      </a:r>
                      <a:endParaRPr lang="ca-ES"/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3. Escull la comanda nova en estat "Per Acceptar"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4. Revisa tots els ingredients de la comanda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5. Indica el temps estimat de preparació de la comanda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6. Seleccionar el botó "D'acceptar comanda"  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7. 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El sistema valida l'acció, actualitza l'estat de la comanda i notifica el canvi.</a:t>
                      </a: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4250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1F1F1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56493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  <a:cs typeface="Arial"/>
                        </a:rPr>
                        <a:t>El cuiner no pot acceptar la comanda: E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l cuiner notifica que no es pot efectuar la comanda: El sistema indica al comprador que el seu plat no serà preparat</a:t>
                      </a: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ca-E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Començat un xat amb el client: 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arenR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A l'hora de revisar tots els ingredients indica al comprador que li falta algun producte, però que encara aixi podria efecuar la comanda 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arenR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Espera a que el client respongui 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228600" lvl="0" indent="-2286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arenR"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Arial"/>
                          <a:cs typeface="Arial"/>
                        </a:rPr>
                        <a:t>Parlen per arribar a un acord a veure si es pot efecturar la comanda amb modificacions o no es possible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</a:rPr>
                        <a:t>La comanda queda assignada al cuiner disponible que l'ha acceptada i e</a:t>
                      </a:r>
                      <a:r>
                        <a:rPr lang="ca-ES" sz="1100" b="0" i="0" u="none" strike="noStrike" noProof="0">
                          <a:solidFill>
                            <a:srgbClr val="1F1F1F"/>
                          </a:solidFill>
                          <a:effectLst/>
                          <a:latin typeface="Neue Haas Grotesk Text Pro"/>
                        </a:rPr>
                        <a:t>l comprador té accés a la notificació/estat actualitzat de la seva comanda.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 b="0" i="0" u="none" strike="noStrike" kern="1200">
                          <a:solidFill>
                            <a:srgbClr val="1F1F1F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Normal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212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ca-ES" sz="1100" b="0" i="0" u="none" strike="noStrike" kern="1200" noProof="0">
                        <a:solidFill>
                          <a:srgbClr val="1F1F1F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7713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idor de contingut 4" descr="Imatge que conté text, captura de pantalla, diagrama, Paral·lel&#10;&#10;Pot ser que el contingut generat per IA no sigui correcte.">
            <a:extLst>
              <a:ext uri="{FF2B5EF4-FFF2-40B4-BE49-F238E27FC236}">
                <a16:creationId xmlns:a16="http://schemas.microsoft.com/office/drawing/2014/main" id="{017B79F4-0259-B370-B860-4A1706BEA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910" y="202184"/>
            <a:ext cx="10606563" cy="6335776"/>
          </a:xfrm>
          <a:prstGeom prst="rect">
            <a:avLst/>
          </a:prstGeom>
        </p:spPr>
      </p:pic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1C74A078-F9FF-D820-CE7A-43FC9F367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9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9024-B241-DCE0-4F64-07F5F576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73C55-5875-49B5-7946-04DA373A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4A2352-9726-B270-BE0C-52D61501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57</a:t>
            </a:fld>
            <a:endParaRPr lang="en-US"/>
          </a:p>
        </p:txBody>
      </p:sp>
      <p:graphicFrame>
        <p:nvGraphicFramePr>
          <p:cNvPr id="5" name="Taula 4">
            <a:extLst>
              <a:ext uri="{FF2B5EF4-FFF2-40B4-BE49-F238E27FC236}">
                <a16:creationId xmlns:a16="http://schemas.microsoft.com/office/drawing/2014/main" id="{58539E73-DDE2-D7B8-83C6-7DCB44B1387D}"/>
              </a:ext>
            </a:extLst>
          </p:cNvPr>
          <p:cNvGraphicFramePr>
            <a:graphicFrameLocks noGrp="1"/>
          </p:cNvGraphicFramePr>
          <p:nvPr/>
        </p:nvGraphicFramePr>
        <p:xfrm>
          <a:off x="1114425" y="244156"/>
          <a:ext cx="9963150" cy="6369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425">
                  <a:extLst>
                    <a:ext uri="{9D8B030D-6E8A-4147-A177-3AD203B41FA5}">
                      <a16:colId xmlns:a16="http://schemas.microsoft.com/office/drawing/2014/main" val="4267635232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2061251967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72487069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76896672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CAS D’ÚS: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 u="none" strike="noStrike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Accedir a vista de plats desitjats </a:t>
                      </a:r>
                      <a:endParaRPr lang="ca-E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6216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Versió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1.0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Data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16/05/2025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50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Autors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David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92395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Descripció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Llista que l’aplicació mostrarà al cuiner sobre els plats que els compradors desitgen que s’implementin al menú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46175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Actors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Cuiner 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085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Precondició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Els compradors han d’haver desitjat plats que no estan als menús oferts pel cuiner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s’ha d’identificar a l’aplicació per accedir a la llista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28585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 principal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 Accedeix al user-menu del cuiner 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2. Fa click en l'apartat de "Desitjos" per accedir a la llista de plats desitjats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3. Observa els plats desitjats per valorar si accepta-los o no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4. Accepta el desig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5. El sistema gestiona la comanda i permet al cuiner afegir el nou plat a la comanda, a més de notificar a l'hora al comprador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31198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Subfluxos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A1. El comprador ja no vol el plat desitjat: 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Segons la normativa de l'empresa els plats desitjats no es poden cancelar, però si el cuiner al accedir a la vista accepta, el comprador es pot possar en contacte per xat per intentar cancel·lar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A2: El cuiner rebutja el plat: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lvl="0" indent="0" algn="l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decideix per qualsevol motiu que no vol preparar el plat,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l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En el pas 4. el rebutja i fen us del l'opcio "rebutjar" </a:t>
                      </a:r>
                      <a:endParaRPr lang="ca-E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l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Es tanca la solicitud</a:t>
                      </a:r>
                      <a:endParaRPr lang="ca-E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l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sistema notifica al comprador d'aquest rebuig</a:t>
                      </a:r>
                      <a:endParaRPr lang="ca-E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50483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Fluxos alternatius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No hi ha cap plats desitjats: 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no té cap plat desitjat a valorar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33294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Postcondició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La comanda s'actualiza pel sistema incluïnt la solicitud del comprador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1381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Requeriments no funcionals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8348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Prioritat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Normal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562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Comentaris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56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8569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C6956-E354-A8D9-B3BE-42D0D0A7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E70B6D5A-7704-CA23-9AD0-FCED5585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58</a:t>
            </a:fld>
            <a:endParaRPr lang="en-US"/>
          </a:p>
        </p:txBody>
      </p:sp>
      <p:pic>
        <p:nvPicPr>
          <p:cNvPr id="6" name="Contenidor de contingut 5" descr="Imatge que conté text, Paral·lel, captura de pantalla, diagrama&#10;&#10;Pot ser que el contingut generat per IA no sigui correcte.">
            <a:extLst>
              <a:ext uri="{FF2B5EF4-FFF2-40B4-BE49-F238E27FC236}">
                <a16:creationId xmlns:a16="http://schemas.microsoft.com/office/drawing/2014/main" id="{23DED392-04F6-4E91-CF22-5629EE75A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668" y="415544"/>
            <a:ext cx="9871928" cy="630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173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AE81-E9A5-792A-D2ED-88EE6C1A2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932C4-1E2F-E143-2100-DD86016D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CD9D81-5F0B-4262-FF59-D7FE0F46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59</a:t>
            </a:fld>
            <a:endParaRPr lang="en-US"/>
          </a:p>
        </p:txBody>
      </p:sp>
      <p:graphicFrame>
        <p:nvGraphicFramePr>
          <p:cNvPr id="6" name="Taula 5">
            <a:extLst>
              <a:ext uri="{FF2B5EF4-FFF2-40B4-BE49-F238E27FC236}">
                <a16:creationId xmlns:a16="http://schemas.microsoft.com/office/drawing/2014/main" id="{2163497B-EC53-EF4B-116E-74295A4F1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482746"/>
              </p:ext>
            </p:extLst>
          </p:nvPr>
        </p:nvGraphicFramePr>
        <p:xfrm>
          <a:off x="1114425" y="69118"/>
          <a:ext cx="9963150" cy="6719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425">
                  <a:extLst>
                    <a:ext uri="{9D8B030D-6E8A-4147-A177-3AD203B41FA5}">
                      <a16:colId xmlns:a16="http://schemas.microsoft.com/office/drawing/2014/main" val="1726462949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2324534502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635385197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95567414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CAS D’ÚS: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 u="none" strike="noStrike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Indicar disponibilitat 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41716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Versió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1.0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Data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16/05/2025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681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Autors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David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92764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Descripció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El cuiner marcarà en una opció de l’aplicació si està disponible o no per començar a rebre comandes dels compradors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8707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Actors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Cuiner 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2638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Precondició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El cuiner ha d’haver iniciat sessió en l’aplicació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368335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 principal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 Accedeix al menú d’opcions d’estat del seu compte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2.Selecciona la pestanya anomenada "Disponibilitat"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3. Escull entre les opcions "No Disponible" i "Disponible"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4. Dona al botó "Aplicar canvis en disponibilitat"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5.El sistema valida i registra el nou estat de disponibilitat del cuiner i confirma els canvis a la interfície.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48862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Subfluxos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4125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Fluxos alternatius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ha marcat una casella per error i la vol modificar:</a:t>
                      </a:r>
                      <a:endParaRPr lang="ca-E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1) Al costat del bóto "Aplicar canvis en disponibilitat" sortirà una opció anomenada "Modificar", que 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haurà de seleccionar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2) El cuiner retorna al punt 3 del flux principal 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ca-ES" sz="88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  <a:p>
                      <a:pPr marL="0" lv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ha marcat la casella de disponible I ha aplicat els canvis per error: 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1) Accedeix al menú d'opcions d'estat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2) Selecciona el boto que surt a la zona inferior de la pantalla que diu "Desconnectar + Retirar Comandes"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3) El sistema comunica cuantes vegades ha utilitzat el botó i quants usos queden fins que bloquegin el seu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Compte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4) El cuiner li dona ha "He llegit i accepto"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5) El sistema registra el nou estat de disponibilitat del cuiner, confirma els canvis a la interfice i notifica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l'anul·lació de les comandes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5031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Postcondició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El sistema actualitza l'estat de disponibilitat del cuiner segons la seva elecció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9823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Requeriments no funcionals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47553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Prioritat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Normal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05019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Comentaris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624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6238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790A8AE-4014-121B-238D-EEEF71DF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5" name="Contenidor de contingut 4" descr="Imatge que conté text, diagrama, Paral·lel, captura de pantalla&#10;&#10;Pot ser que el contingut generat per IA no sigui correcte.">
            <a:extLst>
              <a:ext uri="{FF2B5EF4-FFF2-40B4-BE49-F238E27FC236}">
                <a16:creationId xmlns:a16="http://schemas.microsoft.com/office/drawing/2014/main" id="{F8423BF9-2A3D-2CE5-268E-C5C41F266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1323" y="9144"/>
            <a:ext cx="7387097" cy="6843776"/>
          </a:xfrm>
          <a:prstGeom prst="rect">
            <a:avLst/>
          </a:prstGeom>
        </p:spPr>
      </p:pic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F42F61B7-3D7A-E85A-11F2-FDC69D57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509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E044-C892-4F74-984E-69649689C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53EB7-3CAD-3B9A-8EB6-9B1B90D5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3DB03C-9EC2-71C1-B15D-BCDEFEBB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61</a:t>
            </a:fld>
            <a:endParaRPr lang="en-US"/>
          </a:p>
        </p:txBody>
      </p:sp>
      <p:graphicFrame>
        <p:nvGraphicFramePr>
          <p:cNvPr id="6" name="Taula 5">
            <a:extLst>
              <a:ext uri="{FF2B5EF4-FFF2-40B4-BE49-F238E27FC236}">
                <a16:creationId xmlns:a16="http://schemas.microsoft.com/office/drawing/2014/main" id="{77241F89-AD33-28D9-B40F-6A8DC46A4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204042"/>
              </p:ext>
            </p:extLst>
          </p:nvPr>
        </p:nvGraphicFramePr>
        <p:xfrm>
          <a:off x="1114425" y="396841"/>
          <a:ext cx="9963150" cy="6064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425">
                  <a:extLst>
                    <a:ext uri="{9D8B030D-6E8A-4147-A177-3AD203B41FA5}">
                      <a16:colId xmlns:a16="http://schemas.microsoft.com/office/drawing/2014/main" val="652392084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3381653290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3986880479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32872845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CAS D’ÚS: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 u="none" strike="noStrike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Oferir Plats i menús 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28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Versió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1.0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Data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16/05/2025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5498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Autors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David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92013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Descripció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haurà d’oferir una serie de plats i menús per a que puguin ser escollits pels compradors i que facin comandes d’aquests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8947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Actors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Cuiner 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37502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Precondició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ha d’identificar-se a l’aplicació i tenir el compte completament configurat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243357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 principal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1. El cuiner es dirigeix a l’apartat de “Menús i plats” de l’aplicació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2. Selecciona el botó que diu “Afegir plats o menús”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3. El cuiner omple les caselles “Primer plat, segon plat, beguda i postre”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4. Escull l'opció anomenada "Revisar el menú"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5. </a:t>
                      </a: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Indica els al·lèrgens i ingredients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6. Selecciona l’opció “Afegeix el menú”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7. El sistema actualitza l'interfície i queda el menú visible pel comprador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985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Subfluxos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A1.Només vol afegir un plat: 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lv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En el pas 3 deixa buit tots els espais de l’opció afegir menú i només omple la casella de “Primer plat”</a:t>
                      </a:r>
                      <a:endParaRPr lang="ca-E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42341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Fluxos alternatius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 pot afegir el plat/menú: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lv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detecta que el cuiner està intentant afegir un plat amb un nom bloquejat, com per exemple, “Caca” o el cuiner ja ofereix un plat que s’anomena d’aquella mateixa manera i ho notifica a través de l'interfície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cuiner accepta la notificació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Automàticament el sistema tancarà el menú que s'està intentant afegir per seguretat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5821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Postcondició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El nou menú o plat queda registrat correctament en el catàleg del cuiner i esdevé visible per als compradors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8566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Requeriments no funcionals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880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Prioritat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Normal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38838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Comentaris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123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238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22891-C60C-3103-BEF2-0A1FED7E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9246601E-7D75-7EE0-292A-364ECB82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050F5228-FD9B-891B-6019-3CDC04AA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62</a:t>
            </a:fld>
            <a:endParaRPr lang="en-US"/>
          </a:p>
        </p:txBody>
      </p:sp>
      <p:pic>
        <p:nvPicPr>
          <p:cNvPr id="7" name="Contenidor de contingut 6" descr="Imatge que conté text, captura de pantalla, diagrama, nombre&#10;&#10;Pot ser que el contingut generat per IA no sigui correcte.">
            <a:extLst>
              <a:ext uri="{FF2B5EF4-FFF2-40B4-BE49-F238E27FC236}">
                <a16:creationId xmlns:a16="http://schemas.microsoft.com/office/drawing/2014/main" id="{BC5E60BA-4B94-9BA7-31F1-436115738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900" y="-1016"/>
            <a:ext cx="9763063" cy="68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875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EFCB-F1E9-1709-A9D4-E73C7A95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52A70-3F2E-F7EE-85FD-84791FE6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3DA0B5-E415-08FC-7571-8635E1A6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63</a:t>
            </a:fld>
            <a:endParaRPr lang="en-US"/>
          </a:p>
        </p:txBody>
      </p:sp>
      <p:graphicFrame>
        <p:nvGraphicFramePr>
          <p:cNvPr id="8" name="Taula 7">
            <a:extLst>
              <a:ext uri="{FF2B5EF4-FFF2-40B4-BE49-F238E27FC236}">
                <a16:creationId xmlns:a16="http://schemas.microsoft.com/office/drawing/2014/main" id="{C5F86185-610E-6630-2655-D9CE2991C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51080"/>
              </p:ext>
            </p:extLst>
          </p:nvPr>
        </p:nvGraphicFramePr>
        <p:xfrm>
          <a:off x="721360" y="-325120"/>
          <a:ext cx="11336516" cy="7942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846">
                  <a:extLst>
                    <a:ext uri="{9D8B030D-6E8A-4147-A177-3AD203B41FA5}">
                      <a16:colId xmlns:a16="http://schemas.microsoft.com/office/drawing/2014/main" val="3495693069"/>
                    </a:ext>
                  </a:extLst>
                </a:gridCol>
                <a:gridCol w="5674318">
                  <a:extLst>
                    <a:ext uri="{9D8B030D-6E8A-4147-A177-3AD203B41FA5}">
                      <a16:colId xmlns:a16="http://schemas.microsoft.com/office/drawing/2014/main" val="2785337913"/>
                    </a:ext>
                  </a:extLst>
                </a:gridCol>
                <a:gridCol w="1400934">
                  <a:extLst>
                    <a:ext uri="{9D8B030D-6E8A-4147-A177-3AD203B41FA5}">
                      <a16:colId xmlns:a16="http://schemas.microsoft.com/office/drawing/2014/main" val="3117347774"/>
                    </a:ext>
                  </a:extLst>
                </a:gridCol>
                <a:gridCol w="2877418">
                  <a:extLst>
                    <a:ext uri="{9D8B030D-6E8A-4147-A177-3AD203B41FA5}">
                      <a16:colId xmlns:a16="http://schemas.microsoft.com/office/drawing/2014/main" val="2526643202"/>
                    </a:ext>
                  </a:extLst>
                </a:gridCol>
              </a:tblGrid>
              <a:tr h="23592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CAS D’ÚS: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 u="none" strike="noStrike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Indicar al·lèrgens i ingredients (Include) CAMBIADO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951886"/>
                  </a:ext>
                </a:extLst>
              </a:tr>
              <a:tr h="23592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Versió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1.0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Data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16/05/2025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6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11402"/>
                  </a:ext>
                </a:extLst>
              </a:tr>
              <a:tr h="23592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Autors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David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163547"/>
                  </a:ext>
                </a:extLst>
              </a:tr>
              <a:tr h="39320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Descripció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haurà d’especificar a l’hora de revisar el menú que està afegint quins son els al·lèrgens que té i els ingredients especifics del menú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006703"/>
                  </a:ext>
                </a:extLst>
              </a:tr>
              <a:tr h="23592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Actors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Cuiner 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946171"/>
                  </a:ext>
                </a:extLst>
              </a:tr>
              <a:tr h="23592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Precondició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El cuiner necesita estar afegint un plat o menú i haver seleccionat l’opció de revisar menú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226278"/>
                  </a:ext>
                </a:extLst>
              </a:tr>
              <a:tr h="1966017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 principal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 El cuiner haurà de seleccionar la opció anomenada "Ingredients" al costat del producte que ofereix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2. Haurà d'entrar per teclat el conjunt d'ingredients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3.Després haurà de seleccionar un conjunt d’etiquetes, com per exemple: “sense gluten”, “vegà”, “vegetarià”, “none”...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4. Seleccionarà la opció "revisar" per veure que no quedi res per omplir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5. Selecciona "Terminar indicació"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6. La interfície mostra el missatge "Al·lergens i ingredients indicats, per fer canvis seleccionar l'opció "modificar"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7. Repeteix desde el punt 2 fins que no hi hagin més productes del menú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8. El cuiner donarà a l'opció "Finalitzat"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9. El sistema vincularà els al·lèrgens i ingredients al producte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75992"/>
                  </a:ext>
                </a:extLst>
              </a:tr>
              <a:tr h="212329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Subfluxos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A1.Es deixa la secció d’ingredients o d’etiquetes buida: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lv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En el moment de seleccionar l'opció "Revisar" l'interfície mostrarà una alerta "No pots continuar, casella buida: Modifica o cancel·la el menú"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2. El cuiner haurà de modificar els espais en blanc per tal de no cancel·lar el menu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3. Repeteix el pas 4 del flux principal fins que no hi hagi res buit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A2. Modificar al veure un error posteriorment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1. Abans d'arribar al pas 8 del flux principal, si el cuiner veu un error pot seleccionar una opció que surt al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  costat de "Finalitzat" que diu "Fer canvi"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2. El cuiner selecciona el plat on ha vist l'error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3. Modifica justament la part que té l'error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4. Apreta el botó verd que diu "Aplicar canvis"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5. Torna a l'opció 8 del flux principal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135361"/>
                  </a:ext>
                </a:extLst>
              </a:tr>
              <a:tr h="707763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Fluxos alternatius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-L'ingredient està bloquejat: Això succeeix perquè s’està intentant afegir un plat amb un ingredient no comestible o il·legal (Ex: Marihuana) i l’aplicació directament tanca a comanda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-Les etiquetes son contradictòries: Un ingredient diu pa d’espelta i l’etiqueta diu “Sense Gluten”. L’aplicació tancarà el menú per seguretat alimentària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496235"/>
                  </a:ext>
                </a:extLst>
              </a:tr>
              <a:tr h="39320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Postcondició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Els ingredients i les etiquetes d'al·lèrgens seleccionades queden vinculats correctament al plat o menú en el sistema.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227977"/>
                  </a:ext>
                </a:extLst>
              </a:tr>
              <a:tr h="32579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Requeriments no funcionals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58169"/>
                  </a:ext>
                </a:extLst>
              </a:tr>
              <a:tr h="23592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Prioritat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Normal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436704"/>
                  </a:ext>
                </a:extLst>
              </a:tr>
              <a:tr h="32579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Comentaris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buNone/>
                      </a:pPr>
                      <a:endParaRPr lang="ca-ES">
                        <a:effectLst/>
                      </a:endParaRPr>
                    </a:p>
                  </a:txBody>
                  <a:tcPr marL="44444" marR="44444">
                    <a:lnL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7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22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1596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BFBC9-41F5-A3F1-0252-0C9F7C9F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2AAA8B27-F7D4-B0C8-3A1C-396858FA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3A5727E5-A688-C892-2CDD-07E0B7E7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64</a:t>
            </a:fld>
            <a:endParaRPr lang="en-US"/>
          </a:p>
        </p:txBody>
      </p:sp>
      <p:pic>
        <p:nvPicPr>
          <p:cNvPr id="6" name="Contenidor de contingut 5" descr="Imatge que conté text, captura de pantalla, Paral·lel, diagrama&#10;&#10;Pot ser que el contingut generat per IA no sigui correcte.">
            <a:extLst>
              <a:ext uri="{FF2B5EF4-FFF2-40B4-BE49-F238E27FC236}">
                <a16:creationId xmlns:a16="http://schemas.microsoft.com/office/drawing/2014/main" id="{D1B103F4-D91C-521E-0CDB-25A297732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209" y="-111451"/>
            <a:ext cx="7460522" cy="715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5292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F975E69210F5F4B94616D762FCF703D" ma:contentTypeVersion="6" ma:contentTypeDescription="Crear nuevo documento." ma:contentTypeScope="" ma:versionID="dc927e92781c7d3e6e051a7e9dc78d73">
  <xsd:schema xmlns:xsd="http://www.w3.org/2001/XMLSchema" xmlns:xs="http://www.w3.org/2001/XMLSchema" xmlns:p="http://schemas.microsoft.com/office/2006/metadata/properties" xmlns:ns3="6e437d7e-cb62-411f-89c3-57429139f16e" targetNamespace="http://schemas.microsoft.com/office/2006/metadata/properties" ma:root="true" ma:fieldsID="cd5598765011e13d4e992d56f5bbae90" ns3:_="">
    <xsd:import namespace="6e437d7e-cb62-411f-89c3-57429139f16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37d7e-cb62-411f-89c3-57429139f16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e437d7e-cb62-411f-89c3-57429139f16e" xsi:nil="true"/>
  </documentManagement>
</p:properties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C7432E-B064-40E5-A3CE-D52DD136472A}">
  <ds:schemaRefs>
    <ds:schemaRef ds:uri="6e437d7e-cb62-411f-89c3-57429139f1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BF3923-D9E5-4962-BBB8-690B0ABC4F42}">
  <ds:schemaRefs>
    <ds:schemaRef ds:uri="6e437d7e-cb62-411f-89c3-57429139f16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Pantalla panoràmica</PresentationFormat>
  <Slides>64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Títols de les diapositives</vt:lpstr>
      </vt:variant>
      <vt:variant>
        <vt:i4>64</vt:i4>
      </vt:variant>
    </vt:vector>
  </HeadingPairs>
  <TitlesOfParts>
    <vt:vector size="65" baseType="lpstr">
      <vt:lpstr>AccentBoxVTI</vt:lpstr>
      <vt:lpstr>Enginyeria del Software</vt:lpstr>
      <vt:lpstr>Composició de l’equip </vt:lpstr>
      <vt:lpstr>Tasques fetes al sprint (Sprint 4)</vt:lpstr>
      <vt:lpstr>Trello Sprint 4</vt:lpstr>
      <vt:lpstr>Trello (Sprint 4)</vt:lpstr>
      <vt:lpstr>Diagrama Classes final</vt:lpstr>
      <vt:lpstr>Presentació del PowerPoint</vt:lpstr>
      <vt:lpstr>Diagrames de Seqüència </vt:lpstr>
      <vt:lpstr>Especificacions</vt:lpstr>
      <vt:lpstr>Especificacions</vt:lpstr>
      <vt:lpstr>Especificacions</vt:lpstr>
      <vt:lpstr>Presentació del PowerPoint</vt:lpstr>
      <vt:lpstr>Presentació del PowerPoint</vt:lpstr>
      <vt:lpstr>Presentació del PowerPoint</vt:lpstr>
      <vt:lpstr>Especificacions</vt:lpstr>
      <vt:lpstr>Presentació del PowerPoint</vt:lpstr>
      <vt:lpstr>Burn-down chart</vt:lpstr>
      <vt:lpstr>Enginyeria del Software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Especificacions</vt:lpstr>
      <vt:lpstr>Presentació del PowerPoint</vt:lpstr>
      <vt:lpstr>Especificacions</vt:lpstr>
      <vt:lpstr>Presentació del PowerPoint</vt:lpstr>
      <vt:lpstr>Presentació del PowerPoint</vt:lpstr>
      <vt:lpstr>Presentació del PowerPoint</vt:lpstr>
      <vt:lpstr>Especificacions</vt:lpstr>
      <vt:lpstr>Presentació del PowerPoint</vt:lpstr>
      <vt:lpstr>Especificacions</vt:lpstr>
      <vt:lpstr>Presentació del PowerPoint</vt:lpstr>
      <vt:lpstr>Especificacions</vt:lpstr>
      <vt:lpstr>Presentació del PowerPoint</vt:lpstr>
      <vt:lpstr>Especificacions</vt:lpstr>
      <vt:lpstr>Presentació del PowerPoint</vt:lpstr>
      <vt:lpstr>Especificacions</vt:lpstr>
      <vt:lpstr>Especificacions</vt:lpstr>
      <vt:lpstr>Especificacions</vt:lpstr>
      <vt:lpstr>Especificacions</vt:lpstr>
      <vt:lpstr>Especificacions</vt:lpstr>
      <vt:lpstr>Especificacions</vt:lpstr>
      <vt:lpstr>Especificacions</vt:lpstr>
      <vt:lpstr>Especificacions</vt:lpstr>
      <vt:lpstr>Especificacions</vt:lpstr>
      <vt:lpstr>Especificacions</vt:lpstr>
      <vt:lpstr>Especificacions</vt:lpstr>
      <vt:lpstr>Presentació del PowerPoint</vt:lpstr>
      <vt:lpstr>Especificacions</vt:lpstr>
      <vt:lpstr>Presentació del PowerPoint</vt:lpstr>
      <vt:lpstr>Especificacions</vt:lpstr>
      <vt:lpstr>Presentació del PowerPoint</vt:lpstr>
      <vt:lpstr>Especificacions</vt:lpstr>
      <vt:lpstr>Presentació del PowerPoint</vt:lpstr>
      <vt:lpstr>Especificacions</vt:lpstr>
      <vt:lpstr>Presentació del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revision>7</cp:revision>
  <dcterms:created xsi:type="dcterms:W3CDTF">2023-02-10T08:32:17Z</dcterms:created>
  <dcterms:modified xsi:type="dcterms:W3CDTF">2026-06-07T16:24:49Z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0x0101004F975E69210F5F4B94616D762FCF703D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