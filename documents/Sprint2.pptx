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7"/>
  </p:notesMasterIdLst>
  <p:sldIdLst>
    <p:sldId id="412" r:id="rId5"/>
    <p:sldId id="400" r:id="rId6"/>
    <p:sldId id="408" r:id="rId7"/>
    <p:sldId id="410" r:id="rId8"/>
    <p:sldId id="416" r:id="rId9"/>
    <p:sldId id="414" r:id="rId10"/>
    <p:sldId id="420" r:id="rId11"/>
    <p:sldId id="421" r:id="rId12"/>
    <p:sldId id="422" r:id="rId13"/>
    <p:sldId id="415" r:id="rId14"/>
    <p:sldId id="411" r:id="rId15"/>
    <p:sldId id="399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9D9D9"/>
    <a:srgbClr val="FEF8BE"/>
    <a:srgbClr val="B8CCE4"/>
    <a:srgbClr val="769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ECDAD-75E1-4BC4-AB86-9BA5DFF857B3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AA5E4-F832-4E78-BDC0-6CAA09567E0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8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31DCF8F9-FE1E-467E-9B82-0FEB758F2FA6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95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6219CF75-0ECC-4E76-B636-3ABF46261502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4E8BD-E6E8-42B0-9E1C-58D2F9C64A0C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D7AFBA47-0BC8-4C75-9B10-88B9F496CCB1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84512E72-AC33-43BA-BEE9-4FD4948C58D8}" type="datetime1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6718-59A8-49B1-AEC5-3662572A144D}" type="datetime1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EC767-5C82-4733-81D6-0B6B22CAF0EE}" type="datetime1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4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E4D41E06-6C86-4754-846D-56519DFF1F50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0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A39B2-B176-40DF-B22F-280C511548AF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2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E393-D011-4B55-A9B6-0BBC79EF96B0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5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0C2F-F497-4247-8BB2-5746400D850B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AA1BC-C245-4537-A704-02F8919D151B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fif"/><Relationship Id="rId4" Type="http://schemas.openxmlformats.org/officeDocument/2006/relationships/image" Target="../media/image4.jf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5CF02-92BA-5A94-2DEC-47F61A7C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481272-C222-8968-044D-3BAF0970A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2A8D1-3358-F5F1-4AF0-5F9969CD73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3CA4E186-A056-DACA-6812-E5F007704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318A6B-6752-F618-4EF4-1D267178C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EE755042-3AA6-3825-AEC6-571898FD7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29D88-9361-BCC7-DCE3-D5D1408F4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F60D0DC-CA51-7547-B234-C04A874F0855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 dirty="0"/>
              <a:t>Pràctiques: Grup 431-07</a:t>
            </a:r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 err="1"/>
              <a:t>Sprint</a:t>
            </a:r>
            <a:r>
              <a:rPr lang="ca-ES" sz="1400" dirty="0"/>
              <a:t> 02: Diagrama Casos d’Ús</a:t>
            </a:r>
          </a:p>
        </p:txBody>
      </p:sp>
    </p:spTree>
    <p:extLst>
      <p:ext uri="{BB962C8B-B14F-4D97-AF65-F5344CB8AC3E}">
        <p14:creationId xmlns:p14="http://schemas.microsoft.com/office/powerpoint/2010/main" val="75173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F9086-B6B4-D19E-C791-6006CEAD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Composició de l’equip</a:t>
            </a:r>
            <a:r>
              <a:rPr lang="en-GB" dirty="0"/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DBCED9-7F51-70EF-594E-F7D7A979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44A2714-7224-8333-A43B-ECBC3C175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77664" y="2312505"/>
            <a:ext cx="1202542" cy="120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F9A3A06-2104-6EDD-EE3F-A32528BEC881}"/>
              </a:ext>
            </a:extLst>
          </p:cNvPr>
          <p:cNvSpPr txBox="1"/>
          <p:nvPr/>
        </p:nvSpPr>
        <p:spPr>
          <a:xfrm>
            <a:off x="1138189" y="3578972"/>
            <a:ext cx="1881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David Caballero</a:t>
            </a:r>
            <a:endParaRPr lang="ca-E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6D0DF31-D861-FFEE-2974-6C02DD6937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5" b="40796"/>
          <a:stretch/>
        </p:blipFill>
        <p:spPr bwMode="auto">
          <a:xfrm>
            <a:off x="4108009" y="2320270"/>
            <a:ext cx="1202542" cy="1193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701D67B-2047-7EEE-CB49-B2ED590A3D18}"/>
              </a:ext>
            </a:extLst>
          </p:cNvPr>
          <p:cNvSpPr txBox="1"/>
          <p:nvPr/>
        </p:nvSpPr>
        <p:spPr>
          <a:xfrm>
            <a:off x="4007501" y="3578972"/>
            <a:ext cx="1403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b="1" dirty="0"/>
              <a:t>Pau García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C58F73A0-EF49-A7B1-C627-75778E026E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3" t="10534" r="18702"/>
          <a:stretch/>
        </p:blipFill>
        <p:spPr bwMode="auto">
          <a:xfrm>
            <a:off x="1446165" y="4543537"/>
            <a:ext cx="1234041" cy="1159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F9E5503-CA01-C76E-286A-F65FDF48A279}"/>
              </a:ext>
            </a:extLst>
          </p:cNvPr>
          <p:cNvSpPr txBox="1"/>
          <p:nvPr/>
        </p:nvSpPr>
        <p:spPr>
          <a:xfrm>
            <a:off x="1226093" y="5753681"/>
            <a:ext cx="170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/>
              <a:t>Oscar Marcos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5B950BB-3356-08FA-D3B8-D5AB267A1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146185" y="4397109"/>
            <a:ext cx="1126190" cy="1305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FC6393E-84E8-F829-72B0-A2837607CCD5}"/>
              </a:ext>
            </a:extLst>
          </p:cNvPr>
          <p:cNvSpPr txBox="1"/>
          <p:nvPr/>
        </p:nvSpPr>
        <p:spPr>
          <a:xfrm>
            <a:off x="3942439" y="5757115"/>
            <a:ext cx="1533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/>
              <a:t>Guillem Solé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5D8E7C1-F3A1-9FFE-E007-5F434203772E}"/>
              </a:ext>
            </a:extLst>
          </p:cNvPr>
          <p:cNvSpPr txBox="1"/>
          <p:nvPr/>
        </p:nvSpPr>
        <p:spPr>
          <a:xfrm>
            <a:off x="6528945" y="3625138"/>
            <a:ext cx="4300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En el </a:t>
            </a:r>
            <a:r>
              <a:rPr lang="ca-ES" dirty="0" err="1"/>
              <a:t>segón</a:t>
            </a:r>
            <a:r>
              <a:rPr lang="ca-ES" dirty="0"/>
              <a:t> </a:t>
            </a:r>
            <a:r>
              <a:rPr lang="ca-ES" dirty="0" err="1"/>
              <a:t>sprint</a:t>
            </a:r>
            <a:r>
              <a:rPr lang="ca-ES" dirty="0"/>
              <a:t> l’SCRUM </a:t>
            </a:r>
            <a:r>
              <a:rPr lang="ca-ES" dirty="0" err="1"/>
              <a:t>Master</a:t>
            </a:r>
            <a:r>
              <a:rPr lang="ca-ES" dirty="0"/>
              <a:t> ha sigut Pau García.</a:t>
            </a:r>
          </a:p>
        </p:txBody>
      </p:sp>
    </p:spTree>
    <p:extLst>
      <p:ext uri="{BB962C8B-B14F-4D97-AF65-F5344CB8AC3E}">
        <p14:creationId xmlns:p14="http://schemas.microsoft.com/office/powerpoint/2010/main" val="1439967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FB19B-BC83-28E3-C34F-E477B71C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D4BA1-5AB7-B8D9-63F4-F71B31D5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Tasques fetes al sprint</a:t>
            </a:r>
            <a:endParaRPr lang="en-GB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9DCC4B-20F9-8EAA-9C5D-D85FD1DD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C9F3BC3-64C6-DCA9-A993-43956FF851B7}"/>
              </a:ext>
            </a:extLst>
          </p:cNvPr>
          <p:cNvSpPr txBox="1"/>
          <p:nvPr/>
        </p:nvSpPr>
        <p:spPr>
          <a:xfrm>
            <a:off x="541068" y="1961874"/>
            <a:ext cx="91600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Tx/>
              <a:buChar char="-"/>
            </a:pPr>
            <a:r>
              <a:rPr lang="ca-ES" dirty="0"/>
              <a:t>Diagrama Cas d’Ús Usuari registrat i no registrat </a:t>
            </a:r>
            <a:r>
              <a:rPr lang="ca-ES" dirty="0">
                <a:solidFill>
                  <a:srgbClr val="FF0000"/>
                </a:solidFill>
              </a:rPr>
              <a:t>+ Canvis</a:t>
            </a:r>
            <a:r>
              <a:rPr lang="ca-ES" dirty="0"/>
              <a:t> (Encarregat: Pau)</a:t>
            </a:r>
          </a:p>
          <a:p>
            <a:pPr marL="285750" indent="-285750" algn="just">
              <a:lnSpc>
                <a:spcPct val="200000"/>
              </a:lnSpc>
              <a:buFontTx/>
              <a:buChar char="-"/>
            </a:pPr>
            <a:r>
              <a:rPr lang="ca-ES" dirty="0"/>
              <a:t>Diagrama Cas d’Ús Comprador </a:t>
            </a:r>
            <a:r>
              <a:rPr lang="ca-ES" dirty="0">
                <a:solidFill>
                  <a:srgbClr val="FF0000"/>
                </a:solidFill>
              </a:rPr>
              <a:t>+ Canvis </a:t>
            </a:r>
            <a:r>
              <a:rPr lang="ca-ES" dirty="0"/>
              <a:t>(Encarregat: Oscar)</a:t>
            </a:r>
          </a:p>
          <a:p>
            <a:pPr marL="285750" indent="-285750" algn="just">
              <a:lnSpc>
                <a:spcPct val="200000"/>
              </a:lnSpc>
              <a:buFontTx/>
              <a:buChar char="-"/>
            </a:pPr>
            <a:r>
              <a:rPr lang="ca-ES" dirty="0"/>
              <a:t>Diagrama Cas d’Ús Cuiner </a:t>
            </a:r>
            <a:r>
              <a:rPr lang="ca-ES" dirty="0">
                <a:solidFill>
                  <a:srgbClr val="FF0000"/>
                </a:solidFill>
              </a:rPr>
              <a:t>+ Canvis </a:t>
            </a:r>
            <a:r>
              <a:rPr lang="ca-ES" dirty="0"/>
              <a:t>(Encarregat: David)</a:t>
            </a:r>
          </a:p>
          <a:p>
            <a:pPr marL="285750" indent="-285750" algn="just">
              <a:lnSpc>
                <a:spcPct val="200000"/>
              </a:lnSpc>
              <a:buFontTx/>
              <a:buChar char="-"/>
            </a:pPr>
            <a:r>
              <a:rPr lang="ca-ES" dirty="0"/>
              <a:t>Diagrama Cas d’Ús Repartidor </a:t>
            </a:r>
            <a:r>
              <a:rPr lang="ca-ES" dirty="0">
                <a:solidFill>
                  <a:srgbClr val="FF0000"/>
                </a:solidFill>
              </a:rPr>
              <a:t>+ Canvis </a:t>
            </a:r>
            <a:r>
              <a:rPr lang="ca-ES" dirty="0"/>
              <a:t>(Encarregat: Guillem)</a:t>
            </a:r>
          </a:p>
          <a:p>
            <a:pPr marL="285750" indent="-285750" algn="just">
              <a:lnSpc>
                <a:spcPct val="200000"/>
              </a:lnSpc>
              <a:buFontTx/>
              <a:buChar char="-"/>
            </a:pPr>
            <a:r>
              <a:rPr lang="ca-ES" dirty="0"/>
              <a:t>Ajuntar Diagrames de Casos d’Ús en un de sol (Encarregat: Pau)</a:t>
            </a:r>
          </a:p>
          <a:p>
            <a:pPr marL="285750" indent="-285750" algn="just">
              <a:lnSpc>
                <a:spcPct val="200000"/>
              </a:lnSpc>
              <a:buFontTx/>
              <a:buChar char="-"/>
            </a:pPr>
            <a:r>
              <a:rPr lang="ca-ES" dirty="0"/>
              <a:t>Coordinació de l’equip, </a:t>
            </a:r>
            <a:r>
              <a:rPr lang="ca-ES" dirty="0" err="1"/>
              <a:t>Burn-down</a:t>
            </a:r>
            <a:r>
              <a:rPr lang="ca-ES" dirty="0"/>
              <a:t> Chart, </a:t>
            </a:r>
            <a:r>
              <a:rPr lang="ca-ES" dirty="0" err="1"/>
              <a:t>Trello</a:t>
            </a:r>
            <a:r>
              <a:rPr lang="ca-ES" dirty="0"/>
              <a:t> i presentació (Encarregat: Pau)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63AEE64-6A5F-43BD-B7F5-39A95A44E0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17" t="19018" r="27402" b="19389"/>
          <a:stretch/>
        </p:blipFill>
        <p:spPr>
          <a:xfrm>
            <a:off x="8778436" y="2562244"/>
            <a:ext cx="2819978" cy="213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8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AA9A76E3-9C96-4A02-8B1B-ADAC248F75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742"/>
          <a:stretch/>
        </p:blipFill>
        <p:spPr>
          <a:xfrm>
            <a:off x="5217215" y="5020837"/>
            <a:ext cx="4694881" cy="104994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007683E-8268-4EBD-9160-A5C97382CE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6" b="2282"/>
          <a:stretch/>
        </p:blipFill>
        <p:spPr>
          <a:xfrm>
            <a:off x="6199632" y="2115303"/>
            <a:ext cx="4164574" cy="272642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Perfils i Usuaris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933A7ED-18E9-D42B-F297-39B59B5C7F84}"/>
              </a:ext>
            </a:extLst>
          </p:cNvPr>
          <p:cNvSpPr txBox="1"/>
          <p:nvPr/>
        </p:nvSpPr>
        <p:spPr>
          <a:xfrm>
            <a:off x="554438" y="2291006"/>
            <a:ext cx="5351412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ca-ES" dirty="0"/>
              <a:t>Hem identificat 8 perfils: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b="1" dirty="0"/>
              <a:t>Interns: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ca-ES" dirty="0"/>
              <a:t>Usuari No registrat 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ca-ES" dirty="0"/>
              <a:t>Usuari Registrat 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ca-ES" dirty="0"/>
              <a:t>Comprador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ca-ES" dirty="0"/>
              <a:t>Cuiner 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ca-ES" dirty="0"/>
              <a:t>Repartidor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b="1" dirty="0"/>
              <a:t>Externs: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ca-ES" dirty="0"/>
              <a:t>Proveïdor d’identitat (</a:t>
            </a:r>
            <a:r>
              <a:rPr lang="ca-ES" dirty="0" err="1"/>
              <a:t>Gmail</a:t>
            </a:r>
            <a:r>
              <a:rPr lang="ca-ES" dirty="0"/>
              <a:t>/Outlook)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ca-ES" dirty="0" err="1"/>
              <a:t>Google</a:t>
            </a:r>
            <a:r>
              <a:rPr lang="ca-ES" dirty="0"/>
              <a:t> </a:t>
            </a:r>
            <a:r>
              <a:rPr lang="ca-ES" dirty="0" err="1"/>
              <a:t>Maps</a:t>
            </a:r>
            <a:r>
              <a:rPr lang="ca-ES" dirty="0"/>
              <a:t> 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ca-ES" dirty="0" err="1"/>
              <a:t>PayPal</a:t>
            </a:r>
            <a:r>
              <a:rPr lang="ca-ES" dirty="0"/>
              <a:t> / Entitat Bancària </a:t>
            </a:r>
          </a:p>
          <a:p>
            <a:pPr algn="just"/>
            <a:endParaRPr lang="ca-E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7EEDEDF-CC3F-4F33-9648-DC3541402B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54305" r="61926"/>
          <a:stretch/>
        </p:blipFill>
        <p:spPr>
          <a:xfrm>
            <a:off x="10392960" y="5040917"/>
            <a:ext cx="1729132" cy="95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74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Casos d’Ús (Usuari no registrat)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53EA6D-1B07-4127-93F7-EBE17EEA2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05037" y="2330710"/>
            <a:ext cx="7781925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732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Casos d’Ús (Usuari registrat)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53EA6D-1B07-4127-93F7-EBE17EEA2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7112" y="3078113"/>
            <a:ext cx="8457775" cy="2163292"/>
          </a:xfrm>
          <a:prstGeom prst="rect">
            <a:avLst/>
          </a:prstGeom>
        </p:spPr>
      </p:pic>
      <p:sp>
        <p:nvSpPr>
          <p:cNvPr id="18" name="Elipse 17">
            <a:extLst>
              <a:ext uri="{FF2B5EF4-FFF2-40B4-BE49-F238E27FC236}">
                <a16:creationId xmlns:a16="http://schemas.microsoft.com/office/drawing/2014/main" id="{C2E90F72-0B01-45CB-A128-FC427F19A121}"/>
              </a:ext>
            </a:extLst>
          </p:cNvPr>
          <p:cNvSpPr/>
          <p:nvPr/>
        </p:nvSpPr>
        <p:spPr>
          <a:xfrm>
            <a:off x="4562475" y="4295775"/>
            <a:ext cx="5867400" cy="1179576"/>
          </a:xfrm>
          <a:prstGeom prst="ellipse">
            <a:avLst/>
          </a:prstGeom>
          <a:noFill/>
          <a:ln w="22225">
            <a:solidFill>
              <a:srgbClr val="FF0000">
                <a:alpha val="60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36638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Casos d’Ús (Comprador)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53EA6D-1B07-4127-93F7-EBE17EEA2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5568" y="2250792"/>
            <a:ext cx="10069203" cy="4089965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FE0F234A-561A-4922-BCA2-748FF8EE669A}"/>
              </a:ext>
            </a:extLst>
          </p:cNvPr>
          <p:cNvSpPr/>
          <p:nvPr/>
        </p:nvSpPr>
        <p:spPr>
          <a:xfrm>
            <a:off x="2057400" y="2647950"/>
            <a:ext cx="3800475" cy="647700"/>
          </a:xfrm>
          <a:prstGeom prst="ellipse">
            <a:avLst/>
          </a:prstGeom>
          <a:noFill/>
          <a:ln w="22225">
            <a:solidFill>
              <a:srgbClr val="FF0000">
                <a:alpha val="44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C0D039D-20B3-4B95-8080-3DC91D424150}"/>
              </a:ext>
            </a:extLst>
          </p:cNvPr>
          <p:cNvSpPr/>
          <p:nvPr/>
        </p:nvSpPr>
        <p:spPr>
          <a:xfrm>
            <a:off x="2171700" y="5819775"/>
            <a:ext cx="3800475" cy="647700"/>
          </a:xfrm>
          <a:prstGeom prst="ellipse">
            <a:avLst/>
          </a:prstGeom>
          <a:noFill/>
          <a:ln w="22225">
            <a:solidFill>
              <a:srgbClr val="FF0000">
                <a:alpha val="44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E6B702E-65EF-4172-92EA-11677B65FA57}"/>
              </a:ext>
            </a:extLst>
          </p:cNvPr>
          <p:cNvSpPr/>
          <p:nvPr/>
        </p:nvSpPr>
        <p:spPr>
          <a:xfrm>
            <a:off x="6529197" y="2435223"/>
            <a:ext cx="636270" cy="241302"/>
          </a:xfrm>
          <a:prstGeom prst="ellipse">
            <a:avLst/>
          </a:prstGeom>
          <a:noFill/>
          <a:ln w="22225">
            <a:solidFill>
              <a:srgbClr val="FF0000">
                <a:alpha val="44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2295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Casos d’Ús (Cuiner)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8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53EA6D-1B07-4127-93F7-EBE17EEA2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66806" y="2322808"/>
            <a:ext cx="7858387" cy="376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446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Casos d’Ús (Repartidor)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53EA6D-1B07-4127-93F7-EBE17EEA2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50435" y="2499591"/>
            <a:ext cx="7691129" cy="310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12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0137136-E6B5-4374-A178-290821345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0424" y="-5593"/>
            <a:ext cx="10527048" cy="686359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228" y="0"/>
            <a:ext cx="3171039" cy="1442906"/>
          </a:xfrm>
        </p:spPr>
        <p:txBody>
          <a:bodyPr>
            <a:normAutofit/>
          </a:bodyPr>
          <a:lstStyle/>
          <a:p>
            <a:r>
              <a:rPr lang="ca-ES" sz="3600" dirty="0"/>
              <a:t>Cas d’Ús Final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040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38EA2-7393-3EEA-342C-2A0E49400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4DF30-96E6-D413-77EB-9C52FFF97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Burn-down</a:t>
            </a:r>
            <a:r>
              <a:rPr lang="ca-ES" dirty="0"/>
              <a:t> </a:t>
            </a:r>
            <a:r>
              <a:rPr lang="ca-ES" dirty="0" err="1"/>
              <a:t>chart</a:t>
            </a:r>
            <a:endParaRPr lang="ca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24E472-EEEA-047A-652F-39B76DAD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03B4500-C043-497A-BFC3-D391A6629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68215" y="2056993"/>
            <a:ext cx="7187195" cy="464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59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D8F7F-EDDF-0F27-C5DE-363EDF2D88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F091E7-7144-0D59-2350-891845526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4B6A5C40-8DF0-BEC4-6D4B-21A930E89326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 dirty="0"/>
              <a:t>Pràctiques: Grup 431-07</a:t>
            </a:r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 err="1"/>
              <a:t>Sprint</a:t>
            </a:r>
            <a:r>
              <a:rPr lang="ca-ES" sz="1400" dirty="0"/>
              <a:t> 02: Diagrama Casos d’Ús</a:t>
            </a:r>
          </a:p>
        </p:txBody>
      </p:sp>
    </p:spTree>
    <p:extLst>
      <p:ext uri="{BB962C8B-B14F-4D97-AF65-F5344CB8AC3E}">
        <p14:creationId xmlns:p14="http://schemas.microsoft.com/office/powerpoint/2010/main" val="79260365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b814fa0-4f1b-4d56-8a36-064af1e36e66">
      <UserInfo>
        <DisplayName/>
        <AccountId xsi:nil="true"/>
        <AccountType/>
      </UserInfo>
    </SharedWithUsers>
    <_activity xmlns="b1fa7ccf-aa4f-4f27-84db-07667d020ac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BD3DC6F0E81D4FA56575A4B7B24AF5" ma:contentTypeVersion="14" ma:contentTypeDescription="Crear nuevo documento." ma:contentTypeScope="" ma:versionID="ded3d347f3a98b31a82ee0cc093f824b">
  <xsd:schema xmlns:xsd="http://www.w3.org/2001/XMLSchema" xmlns:xs="http://www.w3.org/2001/XMLSchema" xmlns:p="http://schemas.microsoft.com/office/2006/metadata/properties" xmlns:ns3="7b814fa0-4f1b-4d56-8a36-064af1e36e66" xmlns:ns4="b1fa7ccf-aa4f-4f27-84db-07667d020acb" targetNamespace="http://schemas.microsoft.com/office/2006/metadata/properties" ma:root="true" ma:fieldsID="fe3adeea5df1e60fd0d7c7fb86895927" ns3:_="" ns4:_="">
    <xsd:import namespace="7b814fa0-4f1b-4d56-8a36-064af1e36e66"/>
    <xsd:import namespace="b1fa7ccf-aa4f-4f27-84db-07667d020ac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814fa0-4f1b-4d56-8a36-064af1e36e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a7ccf-aa4f-4f27-84db-07667d020a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BF3923-D9E5-4962-BBB8-690B0ABC4F42}">
  <ds:schemaRefs>
    <ds:schemaRef ds:uri="http://www.w3.org/XML/1998/namespace"/>
    <ds:schemaRef ds:uri="b1fa7ccf-aa4f-4f27-84db-07667d020acb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7b814fa0-4f1b-4d56-8a36-064af1e36e66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4171512-FDE1-4E49-B7EA-58AD2B3337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7A2FCE-FB77-4A2D-98B9-B8BD51BEE8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814fa0-4f1b-4d56-8a36-064af1e36e66"/>
    <ds:schemaRef ds:uri="b1fa7ccf-aa4f-4f27-84db-07667d020a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18000</TotalTime>
  <Words>205</Words>
  <Application>Microsoft Office PowerPoint</Application>
  <PresentationFormat>Panorámica</PresentationFormat>
  <Paragraphs>50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Neue Haas Grotesk Text Pro</vt:lpstr>
      <vt:lpstr>Wingdings</vt:lpstr>
      <vt:lpstr>AccentBoxVTI</vt:lpstr>
      <vt:lpstr>Enginyeria del Software</vt:lpstr>
      <vt:lpstr>Composició de l’equip </vt:lpstr>
      <vt:lpstr>Tasques fetes al sprint</vt:lpstr>
      <vt:lpstr>Perfils i Usuaris </vt:lpstr>
      <vt:lpstr>Casos d’Ús (Usuari no registrat) </vt:lpstr>
      <vt:lpstr>Casos d’Ús (Usuari registrat) </vt:lpstr>
      <vt:lpstr>Casos d’Ús (Comprador) </vt:lpstr>
      <vt:lpstr>Casos d’Ús (Cuiner) </vt:lpstr>
      <vt:lpstr>Casos d’Ús (Repartidor) </vt:lpstr>
      <vt:lpstr>Cas d’Ús Final</vt:lpstr>
      <vt:lpstr>Burn-down chart</vt:lpstr>
      <vt:lpstr>Enginyeria del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Enginyeria del Software</dc:title>
  <dc:creator>Jorge Bernal del Nozal</dc:creator>
  <cp:lastModifiedBy>Pau García Ruiz</cp:lastModifiedBy>
  <cp:revision>63</cp:revision>
  <dcterms:created xsi:type="dcterms:W3CDTF">2023-02-10T08:32:17Z</dcterms:created>
  <dcterms:modified xsi:type="dcterms:W3CDTF">2026-05-06T14:53:18Z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0x01010063BD3DC6F0E81D4FA56575A4B7B24AF5</vt:lpwstr>
  </property>
  <property fmtid="{D5CDD505-2E9C-101B-9397-08002B2CF9AE}" pid="3" name="Order">
    <vt:r8>1700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</Properties>
</file>